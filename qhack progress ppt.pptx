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6" r:id="rId7"/>
    <p:sldId id="262" r:id="rId8"/>
    <p:sldId id="263" r:id="rId9"/>
    <p:sldId id="264" r:id="rId10"/>
    <p:sldId id="265" r:id="rId11"/>
  </p:sldIdLst>
  <p:sldSz cx="18288000" cy="10287000"/>
  <p:notesSz cx="6858000" cy="9144000"/>
  <p:embeddedFontLst>
    <p:embeddedFont>
      <p:font typeface="IBM Plex Sans" panose="020B0503050203000203" pitchFamily="34" charset="0"/>
      <p:regular r:id="rId12"/>
      <p:bold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47" d="100"/>
          <a:sy n="47" d="100"/>
        </p:scale>
        <p:origin x="500" y="1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9.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10.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11.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9.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11.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11.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11.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10.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11.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0E0E0"/>
        </a:solidFill>
        <a:effectLst/>
      </p:bgPr>
    </p:bg>
    <p:spTree>
      <p:nvGrpSpPr>
        <p:cNvPr id="1" name=""/>
        <p:cNvGrpSpPr/>
        <p:nvPr/>
      </p:nvGrpSpPr>
      <p:grpSpPr>
        <a:xfrm>
          <a:off x="0" y="0"/>
          <a:ext cx="0" cy="0"/>
          <a:chOff x="0" y="0"/>
          <a:chExt cx="0" cy="0"/>
        </a:xfrm>
      </p:grpSpPr>
      <p:grpSp>
        <p:nvGrpSpPr>
          <p:cNvPr id="2" name="Group 2"/>
          <p:cNvGrpSpPr/>
          <p:nvPr/>
        </p:nvGrpSpPr>
        <p:grpSpPr>
          <a:xfrm>
            <a:off x="-1597105" y="2516808"/>
            <a:ext cx="2625805" cy="830953"/>
            <a:chOff x="0" y="0"/>
            <a:chExt cx="5816600" cy="1840700"/>
          </a:xfrm>
        </p:grpSpPr>
        <p:sp>
          <p:nvSpPr>
            <p:cNvPr id="3" name="Freeform 3"/>
            <p:cNvSpPr/>
            <p:nvPr/>
          </p:nvSpPr>
          <p:spPr>
            <a:xfrm>
              <a:off x="0" y="0"/>
              <a:ext cx="5816600" cy="1840738"/>
            </a:xfrm>
            <a:custGeom>
              <a:avLst/>
              <a:gdLst/>
              <a:ahLst/>
              <a:cxnLst/>
              <a:rect l="l" t="t" r="r" b="b"/>
              <a:pathLst>
                <a:path w="5816600" h="1840738">
                  <a:moveTo>
                    <a:pt x="0" y="0"/>
                  </a:moveTo>
                  <a:lnTo>
                    <a:pt x="5816600" y="0"/>
                  </a:lnTo>
                  <a:lnTo>
                    <a:pt x="5816600" y="1840738"/>
                  </a:lnTo>
                  <a:lnTo>
                    <a:pt x="0" y="1840738"/>
                  </a:lnTo>
                  <a:lnTo>
                    <a:pt x="0" y="0"/>
                  </a:lnTo>
                  <a:close/>
                </a:path>
              </a:pathLst>
            </a:custGeom>
            <a:blipFill>
              <a:blip r:embed="rId2"/>
              <a:stretch>
                <a:fillRect b="2"/>
              </a:stretch>
            </a:blipFill>
          </p:spPr>
        </p:sp>
      </p:grpSp>
      <p:grpSp>
        <p:nvGrpSpPr>
          <p:cNvPr id="4" name="Group 4"/>
          <p:cNvGrpSpPr/>
          <p:nvPr/>
        </p:nvGrpSpPr>
        <p:grpSpPr>
          <a:xfrm>
            <a:off x="2928206" y="9780631"/>
            <a:ext cx="2625805" cy="830953"/>
            <a:chOff x="0" y="0"/>
            <a:chExt cx="5816600" cy="1840700"/>
          </a:xfrm>
        </p:grpSpPr>
        <p:sp>
          <p:nvSpPr>
            <p:cNvPr id="5" name="Freeform 5"/>
            <p:cNvSpPr/>
            <p:nvPr/>
          </p:nvSpPr>
          <p:spPr>
            <a:xfrm>
              <a:off x="0" y="0"/>
              <a:ext cx="5816600" cy="1840738"/>
            </a:xfrm>
            <a:custGeom>
              <a:avLst/>
              <a:gdLst/>
              <a:ahLst/>
              <a:cxnLst/>
              <a:rect l="l" t="t" r="r" b="b"/>
              <a:pathLst>
                <a:path w="5816600" h="1840738">
                  <a:moveTo>
                    <a:pt x="0" y="0"/>
                  </a:moveTo>
                  <a:lnTo>
                    <a:pt x="5816600" y="0"/>
                  </a:lnTo>
                  <a:lnTo>
                    <a:pt x="5816600" y="1840738"/>
                  </a:lnTo>
                  <a:lnTo>
                    <a:pt x="0" y="1840738"/>
                  </a:lnTo>
                  <a:lnTo>
                    <a:pt x="0" y="0"/>
                  </a:lnTo>
                  <a:close/>
                </a:path>
              </a:pathLst>
            </a:custGeom>
            <a:blipFill>
              <a:blip r:embed="rId2"/>
              <a:stretch>
                <a:fillRect b="2"/>
              </a:stretch>
            </a:blipFill>
          </p:spPr>
        </p:sp>
      </p:grpSp>
      <p:grpSp>
        <p:nvGrpSpPr>
          <p:cNvPr id="6" name="Group 6"/>
          <p:cNvGrpSpPr/>
          <p:nvPr/>
        </p:nvGrpSpPr>
        <p:grpSpPr>
          <a:xfrm>
            <a:off x="13367623" y="9656173"/>
            <a:ext cx="2625805" cy="830953"/>
            <a:chOff x="0" y="0"/>
            <a:chExt cx="5816600" cy="1840700"/>
          </a:xfrm>
        </p:grpSpPr>
        <p:sp>
          <p:nvSpPr>
            <p:cNvPr id="7" name="Freeform 7"/>
            <p:cNvSpPr/>
            <p:nvPr/>
          </p:nvSpPr>
          <p:spPr>
            <a:xfrm>
              <a:off x="0" y="0"/>
              <a:ext cx="5816600" cy="1840738"/>
            </a:xfrm>
            <a:custGeom>
              <a:avLst/>
              <a:gdLst/>
              <a:ahLst/>
              <a:cxnLst/>
              <a:rect l="l" t="t" r="r" b="b"/>
              <a:pathLst>
                <a:path w="5816600" h="1840738">
                  <a:moveTo>
                    <a:pt x="0" y="0"/>
                  </a:moveTo>
                  <a:lnTo>
                    <a:pt x="5816600" y="0"/>
                  </a:lnTo>
                  <a:lnTo>
                    <a:pt x="5816600" y="1840738"/>
                  </a:lnTo>
                  <a:lnTo>
                    <a:pt x="0" y="1840738"/>
                  </a:lnTo>
                  <a:lnTo>
                    <a:pt x="0" y="0"/>
                  </a:lnTo>
                  <a:close/>
                </a:path>
              </a:pathLst>
            </a:custGeom>
            <a:blipFill>
              <a:blip r:embed="rId2"/>
              <a:stretch>
                <a:fillRect b="2"/>
              </a:stretch>
            </a:blipFill>
          </p:spPr>
        </p:sp>
      </p:grpSp>
      <p:grpSp>
        <p:nvGrpSpPr>
          <p:cNvPr id="8" name="Group 8"/>
          <p:cNvGrpSpPr/>
          <p:nvPr/>
        </p:nvGrpSpPr>
        <p:grpSpPr>
          <a:xfrm>
            <a:off x="12140647" y="2730987"/>
            <a:ext cx="5634028" cy="6185198"/>
            <a:chOff x="0" y="0"/>
            <a:chExt cx="15229294" cy="16719156"/>
          </a:xfrm>
        </p:grpSpPr>
        <p:sp>
          <p:nvSpPr>
            <p:cNvPr id="9" name="Freeform 9"/>
            <p:cNvSpPr/>
            <p:nvPr/>
          </p:nvSpPr>
          <p:spPr>
            <a:xfrm>
              <a:off x="0" y="0"/>
              <a:ext cx="15229332" cy="16719131"/>
            </a:xfrm>
            <a:custGeom>
              <a:avLst/>
              <a:gdLst/>
              <a:ahLst/>
              <a:cxnLst/>
              <a:rect l="l" t="t" r="r" b="b"/>
              <a:pathLst>
                <a:path w="15229332" h="16719131">
                  <a:moveTo>
                    <a:pt x="1287347" y="0"/>
                  </a:moveTo>
                  <a:lnTo>
                    <a:pt x="13941985" y="0"/>
                  </a:lnTo>
                  <a:cubicBezTo>
                    <a:pt x="14283410" y="0"/>
                    <a:pt x="14610852" y="135631"/>
                    <a:pt x="14852276" y="377055"/>
                  </a:cubicBezTo>
                  <a:cubicBezTo>
                    <a:pt x="15093702" y="618480"/>
                    <a:pt x="15229332" y="945922"/>
                    <a:pt x="15229332" y="1287347"/>
                  </a:cubicBezTo>
                  <a:lnTo>
                    <a:pt x="15229332" y="15431784"/>
                  </a:lnTo>
                  <a:cubicBezTo>
                    <a:pt x="15229332" y="15773209"/>
                    <a:pt x="15093702" y="16100651"/>
                    <a:pt x="14852276" y="16342077"/>
                  </a:cubicBezTo>
                  <a:cubicBezTo>
                    <a:pt x="14610852" y="16583501"/>
                    <a:pt x="14283410" y="16719131"/>
                    <a:pt x="13941985" y="16719131"/>
                  </a:cubicBezTo>
                  <a:lnTo>
                    <a:pt x="1287347" y="16719131"/>
                  </a:lnTo>
                  <a:cubicBezTo>
                    <a:pt x="945922" y="16719131"/>
                    <a:pt x="618480" y="16583501"/>
                    <a:pt x="377055" y="16342077"/>
                  </a:cubicBezTo>
                  <a:cubicBezTo>
                    <a:pt x="135631" y="16100651"/>
                    <a:pt x="0" y="15773209"/>
                    <a:pt x="0" y="15431784"/>
                  </a:cubicBezTo>
                  <a:lnTo>
                    <a:pt x="0" y="1287347"/>
                  </a:lnTo>
                  <a:cubicBezTo>
                    <a:pt x="0" y="945922"/>
                    <a:pt x="135631" y="618480"/>
                    <a:pt x="377055" y="377055"/>
                  </a:cubicBezTo>
                  <a:cubicBezTo>
                    <a:pt x="618480" y="135631"/>
                    <a:pt x="945922" y="0"/>
                    <a:pt x="1287347" y="0"/>
                  </a:cubicBezTo>
                  <a:close/>
                </a:path>
              </a:pathLst>
            </a:custGeom>
            <a:blipFill>
              <a:blip r:embed="rId3"/>
              <a:stretch>
                <a:fillRect t="-67" b="-67"/>
              </a:stretch>
            </a:blipFill>
            <a:ln w="38100" cap="rnd">
              <a:solidFill>
                <a:srgbClr val="471B2B"/>
              </a:solidFill>
              <a:prstDash val="solid"/>
              <a:round/>
            </a:ln>
          </p:spPr>
        </p:sp>
      </p:grpSp>
      <p:grpSp>
        <p:nvGrpSpPr>
          <p:cNvPr id="10" name="Group 10"/>
          <p:cNvGrpSpPr/>
          <p:nvPr/>
        </p:nvGrpSpPr>
        <p:grpSpPr>
          <a:xfrm>
            <a:off x="7990242" y="9984655"/>
            <a:ext cx="173987" cy="173987"/>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7CB5"/>
            </a:solidFill>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239"/>
                </a:lnSpc>
              </a:pPr>
              <a:endParaRPr/>
            </a:p>
          </p:txBody>
        </p:sp>
      </p:grpSp>
      <p:grpSp>
        <p:nvGrpSpPr>
          <p:cNvPr id="13" name="Group 13"/>
          <p:cNvGrpSpPr/>
          <p:nvPr/>
        </p:nvGrpSpPr>
        <p:grpSpPr>
          <a:xfrm>
            <a:off x="10353346" y="9948585"/>
            <a:ext cx="173987" cy="173987"/>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7CB5"/>
            </a:solidFill>
          </p:spPr>
        </p:sp>
        <p:sp>
          <p:nvSpPr>
            <p:cNvPr id="15" name="TextBox 15"/>
            <p:cNvSpPr txBox="1"/>
            <p:nvPr/>
          </p:nvSpPr>
          <p:spPr>
            <a:xfrm>
              <a:off x="76200" y="47625"/>
              <a:ext cx="660400" cy="688975"/>
            </a:xfrm>
            <a:prstGeom prst="rect">
              <a:avLst/>
            </a:prstGeom>
          </p:spPr>
          <p:txBody>
            <a:bodyPr lIns="50800" tIns="50800" rIns="50800" bIns="50800" rtlCol="0" anchor="ctr"/>
            <a:lstStyle/>
            <a:p>
              <a:pPr algn="ctr">
                <a:lnSpc>
                  <a:spcPts val="2239"/>
                </a:lnSpc>
              </a:pPr>
              <a:endParaRPr/>
            </a:p>
          </p:txBody>
        </p:sp>
      </p:grpSp>
      <p:sp>
        <p:nvSpPr>
          <p:cNvPr id="16" name="Freeform 16"/>
          <p:cNvSpPr/>
          <p:nvPr/>
        </p:nvSpPr>
        <p:spPr>
          <a:xfrm>
            <a:off x="5554011" y="1808824"/>
            <a:ext cx="5931138" cy="1977046"/>
          </a:xfrm>
          <a:custGeom>
            <a:avLst/>
            <a:gdLst/>
            <a:ahLst/>
            <a:cxnLst/>
            <a:rect l="l" t="t" r="r" b="b"/>
            <a:pathLst>
              <a:path w="5931138" h="1977046">
                <a:moveTo>
                  <a:pt x="0" y="0"/>
                </a:moveTo>
                <a:lnTo>
                  <a:pt x="5931138" y="0"/>
                </a:lnTo>
                <a:lnTo>
                  <a:pt x="5931138" y="1977046"/>
                </a:lnTo>
                <a:lnTo>
                  <a:pt x="0" y="1977046"/>
                </a:lnTo>
                <a:lnTo>
                  <a:pt x="0" y="0"/>
                </a:lnTo>
                <a:close/>
              </a:path>
            </a:pathLst>
          </a:custGeom>
          <a:blipFill>
            <a:blip r:embed="rId4"/>
            <a:stretch>
              <a:fillRect/>
            </a:stretch>
          </a:blipFill>
        </p:spPr>
      </p:sp>
      <p:grpSp>
        <p:nvGrpSpPr>
          <p:cNvPr id="17" name="Group 17"/>
          <p:cNvGrpSpPr/>
          <p:nvPr/>
        </p:nvGrpSpPr>
        <p:grpSpPr>
          <a:xfrm>
            <a:off x="491128" y="4301489"/>
            <a:ext cx="3086100" cy="613411"/>
            <a:chOff x="0" y="0"/>
            <a:chExt cx="812800" cy="161557"/>
          </a:xfrm>
        </p:grpSpPr>
        <p:sp>
          <p:nvSpPr>
            <p:cNvPr id="18" name="Freeform 18"/>
            <p:cNvSpPr/>
            <p:nvPr/>
          </p:nvSpPr>
          <p:spPr>
            <a:xfrm>
              <a:off x="0" y="0"/>
              <a:ext cx="812800" cy="161557"/>
            </a:xfrm>
            <a:custGeom>
              <a:avLst/>
              <a:gdLst/>
              <a:ahLst/>
              <a:cxnLst/>
              <a:rect l="l" t="t" r="r" b="b"/>
              <a:pathLst>
                <a:path w="812800" h="161557">
                  <a:moveTo>
                    <a:pt x="80778" y="0"/>
                  </a:moveTo>
                  <a:lnTo>
                    <a:pt x="732022" y="0"/>
                  </a:lnTo>
                  <a:cubicBezTo>
                    <a:pt x="776634" y="0"/>
                    <a:pt x="812800" y="36166"/>
                    <a:pt x="812800" y="80778"/>
                  </a:cubicBezTo>
                  <a:lnTo>
                    <a:pt x="812800" y="80778"/>
                  </a:lnTo>
                  <a:cubicBezTo>
                    <a:pt x="812800" y="102202"/>
                    <a:pt x="804289" y="122749"/>
                    <a:pt x="789141" y="137897"/>
                  </a:cubicBezTo>
                  <a:cubicBezTo>
                    <a:pt x="773992" y="153046"/>
                    <a:pt x="753445" y="161557"/>
                    <a:pt x="732022" y="161557"/>
                  </a:cubicBezTo>
                  <a:lnTo>
                    <a:pt x="80778" y="161557"/>
                  </a:lnTo>
                  <a:cubicBezTo>
                    <a:pt x="36166" y="161557"/>
                    <a:pt x="0" y="125391"/>
                    <a:pt x="0" y="80778"/>
                  </a:cubicBezTo>
                  <a:lnTo>
                    <a:pt x="0" y="80778"/>
                  </a:lnTo>
                  <a:cubicBezTo>
                    <a:pt x="0" y="36166"/>
                    <a:pt x="36166" y="0"/>
                    <a:pt x="80778" y="0"/>
                  </a:cubicBezTo>
                  <a:close/>
                </a:path>
              </a:pathLst>
            </a:custGeom>
            <a:solidFill>
              <a:srgbClr val="FA7CB5"/>
            </a:solidFill>
          </p:spPr>
        </p:sp>
        <p:sp>
          <p:nvSpPr>
            <p:cNvPr id="19" name="TextBox 19"/>
            <p:cNvSpPr txBox="1"/>
            <p:nvPr/>
          </p:nvSpPr>
          <p:spPr>
            <a:xfrm>
              <a:off x="0" y="-28575"/>
              <a:ext cx="812800" cy="190132"/>
            </a:xfrm>
            <a:prstGeom prst="rect">
              <a:avLst/>
            </a:prstGeom>
          </p:spPr>
          <p:txBody>
            <a:bodyPr lIns="50800" tIns="50800" rIns="50800" bIns="50800" rtlCol="0" anchor="ctr"/>
            <a:lstStyle/>
            <a:p>
              <a:pPr algn="ctr">
                <a:lnSpc>
                  <a:spcPts val="2239"/>
                </a:lnSpc>
              </a:pPr>
              <a:endParaRPr/>
            </a:p>
          </p:txBody>
        </p:sp>
      </p:grpSp>
      <p:grpSp>
        <p:nvGrpSpPr>
          <p:cNvPr id="20" name="Group 20"/>
          <p:cNvGrpSpPr/>
          <p:nvPr/>
        </p:nvGrpSpPr>
        <p:grpSpPr>
          <a:xfrm>
            <a:off x="491128" y="5253037"/>
            <a:ext cx="4142956" cy="613411"/>
            <a:chOff x="0" y="0"/>
            <a:chExt cx="1091149" cy="161557"/>
          </a:xfrm>
        </p:grpSpPr>
        <p:sp>
          <p:nvSpPr>
            <p:cNvPr id="21" name="Freeform 21"/>
            <p:cNvSpPr/>
            <p:nvPr/>
          </p:nvSpPr>
          <p:spPr>
            <a:xfrm>
              <a:off x="0" y="0"/>
              <a:ext cx="1091149" cy="161557"/>
            </a:xfrm>
            <a:custGeom>
              <a:avLst/>
              <a:gdLst/>
              <a:ahLst/>
              <a:cxnLst/>
              <a:rect l="l" t="t" r="r" b="b"/>
              <a:pathLst>
                <a:path w="1091149" h="161557">
                  <a:moveTo>
                    <a:pt x="80778" y="0"/>
                  </a:moveTo>
                  <a:lnTo>
                    <a:pt x="1010370" y="0"/>
                  </a:lnTo>
                  <a:cubicBezTo>
                    <a:pt x="1054983" y="0"/>
                    <a:pt x="1091149" y="36166"/>
                    <a:pt x="1091149" y="80778"/>
                  </a:cubicBezTo>
                  <a:lnTo>
                    <a:pt x="1091149" y="80778"/>
                  </a:lnTo>
                  <a:cubicBezTo>
                    <a:pt x="1091149" y="102202"/>
                    <a:pt x="1082638" y="122749"/>
                    <a:pt x="1067489" y="137897"/>
                  </a:cubicBezTo>
                  <a:cubicBezTo>
                    <a:pt x="1052340" y="153046"/>
                    <a:pt x="1031794" y="161557"/>
                    <a:pt x="1010370" y="161557"/>
                  </a:cubicBezTo>
                  <a:lnTo>
                    <a:pt x="80778" y="161557"/>
                  </a:lnTo>
                  <a:cubicBezTo>
                    <a:pt x="36166" y="161557"/>
                    <a:pt x="0" y="125391"/>
                    <a:pt x="0" y="80778"/>
                  </a:cubicBezTo>
                  <a:lnTo>
                    <a:pt x="0" y="80778"/>
                  </a:lnTo>
                  <a:cubicBezTo>
                    <a:pt x="0" y="36166"/>
                    <a:pt x="36166" y="0"/>
                    <a:pt x="80778" y="0"/>
                  </a:cubicBezTo>
                  <a:close/>
                </a:path>
              </a:pathLst>
            </a:custGeom>
            <a:solidFill>
              <a:srgbClr val="FA7CB5"/>
            </a:solidFill>
          </p:spPr>
        </p:sp>
        <p:sp>
          <p:nvSpPr>
            <p:cNvPr id="22" name="TextBox 22"/>
            <p:cNvSpPr txBox="1"/>
            <p:nvPr/>
          </p:nvSpPr>
          <p:spPr>
            <a:xfrm>
              <a:off x="0" y="-28575"/>
              <a:ext cx="1091149" cy="190132"/>
            </a:xfrm>
            <a:prstGeom prst="rect">
              <a:avLst/>
            </a:prstGeom>
          </p:spPr>
          <p:txBody>
            <a:bodyPr lIns="50800" tIns="50800" rIns="50800" bIns="50800" rtlCol="0" anchor="ctr"/>
            <a:lstStyle/>
            <a:p>
              <a:pPr algn="ctr">
                <a:lnSpc>
                  <a:spcPts val="2239"/>
                </a:lnSpc>
              </a:pPr>
              <a:endParaRPr/>
            </a:p>
          </p:txBody>
        </p:sp>
      </p:grpSp>
      <p:grpSp>
        <p:nvGrpSpPr>
          <p:cNvPr id="23" name="Group 23"/>
          <p:cNvGrpSpPr/>
          <p:nvPr/>
        </p:nvGrpSpPr>
        <p:grpSpPr>
          <a:xfrm>
            <a:off x="491128" y="6152199"/>
            <a:ext cx="2306166" cy="613411"/>
            <a:chOff x="0" y="0"/>
            <a:chExt cx="607385" cy="161557"/>
          </a:xfrm>
        </p:grpSpPr>
        <p:sp>
          <p:nvSpPr>
            <p:cNvPr id="24" name="Freeform 24"/>
            <p:cNvSpPr/>
            <p:nvPr/>
          </p:nvSpPr>
          <p:spPr>
            <a:xfrm>
              <a:off x="0" y="0"/>
              <a:ext cx="607385" cy="161557"/>
            </a:xfrm>
            <a:custGeom>
              <a:avLst/>
              <a:gdLst/>
              <a:ahLst/>
              <a:cxnLst/>
              <a:rect l="l" t="t" r="r" b="b"/>
              <a:pathLst>
                <a:path w="607385" h="161557">
                  <a:moveTo>
                    <a:pt x="80778" y="0"/>
                  </a:moveTo>
                  <a:lnTo>
                    <a:pt x="526607" y="0"/>
                  </a:lnTo>
                  <a:cubicBezTo>
                    <a:pt x="571220" y="0"/>
                    <a:pt x="607385" y="36166"/>
                    <a:pt x="607385" y="80778"/>
                  </a:cubicBezTo>
                  <a:lnTo>
                    <a:pt x="607385" y="80778"/>
                  </a:lnTo>
                  <a:cubicBezTo>
                    <a:pt x="607385" y="102202"/>
                    <a:pt x="598875" y="122749"/>
                    <a:pt x="583726" y="137897"/>
                  </a:cubicBezTo>
                  <a:cubicBezTo>
                    <a:pt x="568577" y="153046"/>
                    <a:pt x="548031" y="161557"/>
                    <a:pt x="526607" y="161557"/>
                  </a:cubicBezTo>
                  <a:lnTo>
                    <a:pt x="80778" y="161557"/>
                  </a:lnTo>
                  <a:cubicBezTo>
                    <a:pt x="36166" y="161557"/>
                    <a:pt x="0" y="125391"/>
                    <a:pt x="0" y="80778"/>
                  </a:cubicBezTo>
                  <a:lnTo>
                    <a:pt x="0" y="80778"/>
                  </a:lnTo>
                  <a:cubicBezTo>
                    <a:pt x="0" y="36166"/>
                    <a:pt x="36166" y="0"/>
                    <a:pt x="80778" y="0"/>
                  </a:cubicBezTo>
                  <a:close/>
                </a:path>
              </a:pathLst>
            </a:custGeom>
            <a:solidFill>
              <a:srgbClr val="FA7CB5"/>
            </a:solidFill>
          </p:spPr>
        </p:sp>
        <p:sp>
          <p:nvSpPr>
            <p:cNvPr id="25" name="TextBox 25"/>
            <p:cNvSpPr txBox="1"/>
            <p:nvPr/>
          </p:nvSpPr>
          <p:spPr>
            <a:xfrm>
              <a:off x="0" y="-28575"/>
              <a:ext cx="607385" cy="190132"/>
            </a:xfrm>
            <a:prstGeom prst="rect">
              <a:avLst/>
            </a:prstGeom>
          </p:spPr>
          <p:txBody>
            <a:bodyPr lIns="50800" tIns="50800" rIns="50800" bIns="50800" rtlCol="0" anchor="ctr"/>
            <a:lstStyle/>
            <a:p>
              <a:pPr algn="ctr">
                <a:lnSpc>
                  <a:spcPts val="2239"/>
                </a:lnSpc>
              </a:pPr>
              <a:endParaRPr/>
            </a:p>
          </p:txBody>
        </p:sp>
      </p:grpSp>
      <p:grpSp>
        <p:nvGrpSpPr>
          <p:cNvPr id="26" name="Group 26"/>
          <p:cNvGrpSpPr/>
          <p:nvPr/>
        </p:nvGrpSpPr>
        <p:grpSpPr>
          <a:xfrm>
            <a:off x="491128" y="7046598"/>
            <a:ext cx="5382396" cy="641986"/>
            <a:chOff x="0" y="0"/>
            <a:chExt cx="1417586" cy="169083"/>
          </a:xfrm>
        </p:grpSpPr>
        <p:sp>
          <p:nvSpPr>
            <p:cNvPr id="27" name="Freeform 27"/>
            <p:cNvSpPr/>
            <p:nvPr/>
          </p:nvSpPr>
          <p:spPr>
            <a:xfrm>
              <a:off x="0" y="0"/>
              <a:ext cx="1417586" cy="169083"/>
            </a:xfrm>
            <a:custGeom>
              <a:avLst/>
              <a:gdLst/>
              <a:ahLst/>
              <a:cxnLst/>
              <a:rect l="l" t="t" r="r" b="b"/>
              <a:pathLst>
                <a:path w="1417586" h="169083">
                  <a:moveTo>
                    <a:pt x="84541" y="0"/>
                  </a:moveTo>
                  <a:lnTo>
                    <a:pt x="1333045" y="0"/>
                  </a:lnTo>
                  <a:cubicBezTo>
                    <a:pt x="1355466" y="0"/>
                    <a:pt x="1376970" y="8907"/>
                    <a:pt x="1392824" y="24762"/>
                  </a:cubicBezTo>
                  <a:cubicBezTo>
                    <a:pt x="1408679" y="40616"/>
                    <a:pt x="1417586" y="62120"/>
                    <a:pt x="1417586" y="84541"/>
                  </a:cubicBezTo>
                  <a:lnTo>
                    <a:pt x="1417586" y="84541"/>
                  </a:lnTo>
                  <a:cubicBezTo>
                    <a:pt x="1417586" y="106963"/>
                    <a:pt x="1408679" y="128467"/>
                    <a:pt x="1392824" y="144321"/>
                  </a:cubicBezTo>
                  <a:cubicBezTo>
                    <a:pt x="1376970" y="160176"/>
                    <a:pt x="1355466" y="169083"/>
                    <a:pt x="1333045" y="169083"/>
                  </a:cubicBezTo>
                  <a:lnTo>
                    <a:pt x="84541" y="169083"/>
                  </a:lnTo>
                  <a:cubicBezTo>
                    <a:pt x="62120" y="169083"/>
                    <a:pt x="40616" y="160176"/>
                    <a:pt x="24762" y="144321"/>
                  </a:cubicBezTo>
                  <a:cubicBezTo>
                    <a:pt x="8907" y="128467"/>
                    <a:pt x="0" y="106963"/>
                    <a:pt x="0" y="84541"/>
                  </a:cubicBezTo>
                  <a:lnTo>
                    <a:pt x="0" y="84541"/>
                  </a:lnTo>
                  <a:cubicBezTo>
                    <a:pt x="0" y="62120"/>
                    <a:pt x="8907" y="40616"/>
                    <a:pt x="24762" y="24762"/>
                  </a:cubicBezTo>
                  <a:cubicBezTo>
                    <a:pt x="40616" y="8907"/>
                    <a:pt x="62120" y="0"/>
                    <a:pt x="84541" y="0"/>
                  </a:cubicBezTo>
                  <a:close/>
                </a:path>
              </a:pathLst>
            </a:custGeom>
            <a:solidFill>
              <a:srgbClr val="FA7CB5"/>
            </a:solidFill>
          </p:spPr>
        </p:sp>
        <p:sp>
          <p:nvSpPr>
            <p:cNvPr id="28" name="TextBox 28"/>
            <p:cNvSpPr txBox="1"/>
            <p:nvPr/>
          </p:nvSpPr>
          <p:spPr>
            <a:xfrm>
              <a:off x="0" y="-28575"/>
              <a:ext cx="1417586" cy="197658"/>
            </a:xfrm>
            <a:prstGeom prst="rect">
              <a:avLst/>
            </a:prstGeom>
          </p:spPr>
          <p:txBody>
            <a:bodyPr lIns="50800" tIns="50800" rIns="50800" bIns="50800" rtlCol="0" anchor="ctr"/>
            <a:lstStyle/>
            <a:p>
              <a:pPr algn="ctr">
                <a:lnSpc>
                  <a:spcPts val="2239"/>
                </a:lnSpc>
              </a:pPr>
              <a:endParaRPr/>
            </a:p>
          </p:txBody>
        </p:sp>
      </p:grpSp>
      <p:sp>
        <p:nvSpPr>
          <p:cNvPr id="29" name="Freeform 29"/>
          <p:cNvSpPr/>
          <p:nvPr/>
        </p:nvSpPr>
        <p:spPr>
          <a:xfrm>
            <a:off x="13040466" y="491958"/>
            <a:ext cx="5063940" cy="701725"/>
          </a:xfrm>
          <a:custGeom>
            <a:avLst/>
            <a:gdLst/>
            <a:ahLst/>
            <a:cxnLst/>
            <a:rect l="l" t="t" r="r" b="b"/>
            <a:pathLst>
              <a:path w="5063940" h="701725">
                <a:moveTo>
                  <a:pt x="0" y="0"/>
                </a:moveTo>
                <a:lnTo>
                  <a:pt x="5063940" y="0"/>
                </a:lnTo>
                <a:lnTo>
                  <a:pt x="5063940" y="701725"/>
                </a:lnTo>
                <a:lnTo>
                  <a:pt x="0" y="701725"/>
                </a:lnTo>
                <a:lnTo>
                  <a:pt x="0" y="0"/>
                </a:lnTo>
                <a:close/>
              </a:path>
            </a:pathLst>
          </a:custGeom>
          <a:blipFill>
            <a:blip r:embed="rId5"/>
            <a:stretch>
              <a:fillRect t="-83680" b="-92978"/>
            </a:stretch>
          </a:blipFill>
        </p:spPr>
      </p:sp>
      <p:sp>
        <p:nvSpPr>
          <p:cNvPr id="30" name="Freeform 30"/>
          <p:cNvSpPr/>
          <p:nvPr/>
        </p:nvSpPr>
        <p:spPr>
          <a:xfrm>
            <a:off x="7797895" y="180935"/>
            <a:ext cx="1288097" cy="1323772"/>
          </a:xfrm>
          <a:custGeom>
            <a:avLst/>
            <a:gdLst/>
            <a:ahLst/>
            <a:cxnLst/>
            <a:rect l="l" t="t" r="r" b="b"/>
            <a:pathLst>
              <a:path w="1288097" h="1323772">
                <a:moveTo>
                  <a:pt x="0" y="0"/>
                </a:moveTo>
                <a:lnTo>
                  <a:pt x="1288097" y="0"/>
                </a:lnTo>
                <a:lnTo>
                  <a:pt x="1288097" y="1323771"/>
                </a:lnTo>
                <a:lnTo>
                  <a:pt x="0" y="1323771"/>
                </a:lnTo>
                <a:lnTo>
                  <a:pt x="0" y="0"/>
                </a:lnTo>
                <a:close/>
              </a:path>
            </a:pathLst>
          </a:custGeom>
          <a:blipFill>
            <a:blip r:embed="rId6"/>
            <a:stretch>
              <a:fillRect l="-18975" t="-25223" r="-28835" b="-18316"/>
            </a:stretch>
          </a:blipFill>
        </p:spPr>
      </p:sp>
      <p:sp>
        <p:nvSpPr>
          <p:cNvPr id="31" name="Freeform 31"/>
          <p:cNvSpPr/>
          <p:nvPr/>
        </p:nvSpPr>
        <p:spPr>
          <a:xfrm>
            <a:off x="283426" y="378579"/>
            <a:ext cx="3690501" cy="1185729"/>
          </a:xfrm>
          <a:custGeom>
            <a:avLst/>
            <a:gdLst/>
            <a:ahLst/>
            <a:cxnLst/>
            <a:rect l="l" t="t" r="r" b="b"/>
            <a:pathLst>
              <a:path w="3690501" h="1185729">
                <a:moveTo>
                  <a:pt x="0" y="0"/>
                </a:moveTo>
                <a:lnTo>
                  <a:pt x="3690501" y="0"/>
                </a:lnTo>
                <a:lnTo>
                  <a:pt x="3690501" y="1185729"/>
                </a:lnTo>
                <a:lnTo>
                  <a:pt x="0" y="1185729"/>
                </a:lnTo>
                <a:lnTo>
                  <a:pt x="0" y="0"/>
                </a:lnTo>
                <a:close/>
              </a:path>
            </a:pathLst>
          </a:custGeom>
          <a:blipFill>
            <a:blip r:embed="rId7"/>
            <a:stretch>
              <a:fillRect t="-20769" b="-7813"/>
            </a:stretch>
          </a:blipFill>
        </p:spPr>
      </p:sp>
      <p:sp>
        <p:nvSpPr>
          <p:cNvPr id="32" name="Freeform 32"/>
          <p:cNvSpPr/>
          <p:nvPr/>
        </p:nvSpPr>
        <p:spPr>
          <a:xfrm>
            <a:off x="9966719" y="336677"/>
            <a:ext cx="3036860" cy="1012287"/>
          </a:xfrm>
          <a:custGeom>
            <a:avLst/>
            <a:gdLst/>
            <a:ahLst/>
            <a:cxnLst/>
            <a:rect l="l" t="t" r="r" b="b"/>
            <a:pathLst>
              <a:path w="3036860" h="1012287">
                <a:moveTo>
                  <a:pt x="0" y="0"/>
                </a:moveTo>
                <a:lnTo>
                  <a:pt x="3036860" y="0"/>
                </a:lnTo>
                <a:lnTo>
                  <a:pt x="3036860" y="1012287"/>
                </a:lnTo>
                <a:lnTo>
                  <a:pt x="0" y="1012287"/>
                </a:lnTo>
                <a:lnTo>
                  <a:pt x="0" y="0"/>
                </a:lnTo>
                <a:close/>
              </a:path>
            </a:pathLst>
          </a:custGeom>
          <a:blipFill>
            <a:blip r:embed="rId8"/>
            <a:stretch>
              <a:fillRect/>
            </a:stretch>
          </a:blipFill>
        </p:spPr>
      </p:sp>
      <p:sp>
        <p:nvSpPr>
          <p:cNvPr id="33" name="Freeform 33"/>
          <p:cNvSpPr/>
          <p:nvPr/>
        </p:nvSpPr>
        <p:spPr>
          <a:xfrm>
            <a:off x="4634084" y="173017"/>
            <a:ext cx="2192261" cy="1276152"/>
          </a:xfrm>
          <a:custGeom>
            <a:avLst/>
            <a:gdLst/>
            <a:ahLst/>
            <a:cxnLst/>
            <a:rect l="l" t="t" r="r" b="b"/>
            <a:pathLst>
              <a:path w="2192261" h="1276152">
                <a:moveTo>
                  <a:pt x="0" y="0"/>
                </a:moveTo>
                <a:lnTo>
                  <a:pt x="2192261" y="0"/>
                </a:lnTo>
                <a:lnTo>
                  <a:pt x="2192261" y="1276152"/>
                </a:lnTo>
                <a:lnTo>
                  <a:pt x="0" y="1276152"/>
                </a:lnTo>
                <a:lnTo>
                  <a:pt x="0" y="0"/>
                </a:lnTo>
                <a:close/>
              </a:path>
            </a:pathLst>
          </a:custGeom>
          <a:blipFill>
            <a:blip r:embed="rId9"/>
            <a:stretch>
              <a:fillRect/>
            </a:stretch>
          </a:blipFill>
        </p:spPr>
      </p:sp>
      <p:sp>
        <p:nvSpPr>
          <p:cNvPr id="34" name="TextBox 34"/>
          <p:cNvSpPr txBox="1"/>
          <p:nvPr/>
        </p:nvSpPr>
        <p:spPr>
          <a:xfrm>
            <a:off x="8316142" y="9882546"/>
            <a:ext cx="1743273" cy="264135"/>
          </a:xfrm>
          <a:prstGeom prst="rect">
            <a:avLst/>
          </a:prstGeom>
        </p:spPr>
        <p:txBody>
          <a:bodyPr lIns="0" tIns="0" rIns="0" bIns="0" rtlCol="0" anchor="t">
            <a:spAutoFit/>
          </a:bodyPr>
          <a:lstStyle/>
          <a:p>
            <a:pPr algn="l">
              <a:lnSpc>
                <a:spcPts val="2239"/>
              </a:lnSpc>
            </a:pPr>
            <a:r>
              <a:rPr lang="en-US" sz="1599">
                <a:solidFill>
                  <a:srgbClr val="000000"/>
                </a:solidFill>
                <a:latin typeface="IBM Plex Sans"/>
                <a:ea typeface="IBM Plex Sans"/>
                <a:cs typeface="IBM Plex Sans"/>
                <a:sym typeface="IBM Plex Sans"/>
              </a:rPr>
              <a:t>Q-Hack India 2026</a:t>
            </a:r>
          </a:p>
        </p:txBody>
      </p:sp>
      <p:sp>
        <p:nvSpPr>
          <p:cNvPr id="35" name="TextBox 35"/>
          <p:cNvSpPr txBox="1"/>
          <p:nvPr/>
        </p:nvSpPr>
        <p:spPr>
          <a:xfrm>
            <a:off x="756518" y="4263389"/>
            <a:ext cx="2571155" cy="580391"/>
          </a:xfrm>
          <a:prstGeom prst="rect">
            <a:avLst/>
          </a:prstGeom>
        </p:spPr>
        <p:txBody>
          <a:bodyPr lIns="0" tIns="0" rIns="0" bIns="0" rtlCol="0" anchor="t">
            <a:spAutoFit/>
          </a:bodyPr>
          <a:lstStyle/>
          <a:p>
            <a:pPr algn="l">
              <a:lnSpc>
                <a:spcPts val="4759"/>
              </a:lnSpc>
            </a:pPr>
            <a:r>
              <a:rPr lang="en-US" sz="3399">
                <a:solidFill>
                  <a:srgbClr val="000000"/>
                </a:solidFill>
                <a:latin typeface="IBM Plex Sans"/>
                <a:ea typeface="IBM Plex Sans"/>
                <a:cs typeface="IBM Plex Sans"/>
                <a:sym typeface="IBM Plex Sans"/>
              </a:rPr>
              <a:t>Team Name: </a:t>
            </a:r>
          </a:p>
        </p:txBody>
      </p:sp>
      <p:sp>
        <p:nvSpPr>
          <p:cNvPr id="36" name="TextBox 36"/>
          <p:cNvSpPr txBox="1"/>
          <p:nvPr/>
        </p:nvSpPr>
        <p:spPr>
          <a:xfrm>
            <a:off x="737468" y="5200650"/>
            <a:ext cx="3711416" cy="622936"/>
          </a:xfrm>
          <a:prstGeom prst="rect">
            <a:avLst/>
          </a:prstGeom>
        </p:spPr>
        <p:txBody>
          <a:bodyPr lIns="0" tIns="0" rIns="0" bIns="0" rtlCol="0" anchor="t">
            <a:spAutoFit/>
          </a:bodyPr>
          <a:lstStyle/>
          <a:p>
            <a:pPr algn="l">
              <a:lnSpc>
                <a:spcPts val="5039"/>
              </a:lnSpc>
            </a:pPr>
            <a:r>
              <a:rPr lang="en-US" sz="3599" dirty="0">
                <a:solidFill>
                  <a:srgbClr val="000000"/>
                </a:solidFill>
                <a:latin typeface="IBM Plex Sans"/>
                <a:ea typeface="IBM Plex Sans"/>
                <a:cs typeface="IBM Plex Sans"/>
                <a:sym typeface="IBM Plex Sans"/>
              </a:rPr>
              <a:t>Team Lead Name:</a:t>
            </a:r>
          </a:p>
        </p:txBody>
      </p:sp>
      <p:sp>
        <p:nvSpPr>
          <p:cNvPr id="37" name="TextBox 37"/>
          <p:cNvSpPr txBox="1"/>
          <p:nvPr/>
        </p:nvSpPr>
        <p:spPr>
          <a:xfrm>
            <a:off x="771877" y="6085524"/>
            <a:ext cx="1347142" cy="596901"/>
          </a:xfrm>
          <a:prstGeom prst="rect">
            <a:avLst/>
          </a:prstGeom>
        </p:spPr>
        <p:txBody>
          <a:bodyPr lIns="0" tIns="0" rIns="0" bIns="0" rtlCol="0" anchor="t">
            <a:spAutoFit/>
          </a:bodyPr>
          <a:lstStyle/>
          <a:p>
            <a:pPr algn="l">
              <a:lnSpc>
                <a:spcPts val="4899"/>
              </a:lnSpc>
            </a:pPr>
            <a:r>
              <a:rPr lang="en-US" sz="3499">
                <a:solidFill>
                  <a:srgbClr val="000000"/>
                </a:solidFill>
                <a:latin typeface="IBM Plex Sans"/>
                <a:ea typeface="IBM Plex Sans"/>
                <a:cs typeface="IBM Plex Sans"/>
                <a:sym typeface="IBM Plex Sans"/>
              </a:rPr>
              <a:t>Track: </a:t>
            </a:r>
          </a:p>
        </p:txBody>
      </p:sp>
      <p:sp>
        <p:nvSpPr>
          <p:cNvPr id="38" name="TextBox 38"/>
          <p:cNvSpPr txBox="1"/>
          <p:nvPr/>
        </p:nvSpPr>
        <p:spPr>
          <a:xfrm>
            <a:off x="756518" y="7008498"/>
            <a:ext cx="5016937" cy="596901"/>
          </a:xfrm>
          <a:prstGeom prst="rect">
            <a:avLst/>
          </a:prstGeom>
        </p:spPr>
        <p:txBody>
          <a:bodyPr lIns="0" tIns="0" rIns="0" bIns="0" rtlCol="0" anchor="t">
            <a:spAutoFit/>
          </a:bodyPr>
          <a:lstStyle/>
          <a:p>
            <a:pPr algn="l">
              <a:lnSpc>
                <a:spcPts val="4899"/>
              </a:lnSpc>
            </a:pPr>
            <a:r>
              <a:rPr lang="en-US" sz="3499">
                <a:solidFill>
                  <a:srgbClr val="000000"/>
                </a:solidFill>
                <a:latin typeface="IBM Plex Sans"/>
                <a:ea typeface="IBM Plex Sans"/>
                <a:cs typeface="IBM Plex Sans"/>
                <a:sym typeface="IBM Plex Sans"/>
              </a:rPr>
              <a:t>Problem Statement title: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0E0E0"/>
        </a:solidFill>
        <a:effectLst/>
      </p:bgPr>
    </p:bg>
    <p:spTree>
      <p:nvGrpSpPr>
        <p:cNvPr id="1" name=""/>
        <p:cNvGrpSpPr/>
        <p:nvPr/>
      </p:nvGrpSpPr>
      <p:grpSpPr>
        <a:xfrm>
          <a:off x="0" y="0"/>
          <a:ext cx="0" cy="0"/>
          <a:chOff x="0" y="0"/>
          <a:chExt cx="0" cy="0"/>
        </a:xfrm>
      </p:grpSpPr>
      <p:grpSp>
        <p:nvGrpSpPr>
          <p:cNvPr id="2" name="Group 2"/>
          <p:cNvGrpSpPr/>
          <p:nvPr/>
        </p:nvGrpSpPr>
        <p:grpSpPr>
          <a:xfrm>
            <a:off x="-1597105" y="2516808"/>
            <a:ext cx="2625805" cy="830953"/>
            <a:chOff x="0" y="0"/>
            <a:chExt cx="5816600" cy="1840700"/>
          </a:xfrm>
        </p:grpSpPr>
        <p:sp>
          <p:nvSpPr>
            <p:cNvPr id="3" name="Freeform 3"/>
            <p:cNvSpPr/>
            <p:nvPr/>
          </p:nvSpPr>
          <p:spPr>
            <a:xfrm>
              <a:off x="0" y="0"/>
              <a:ext cx="5816600" cy="1840738"/>
            </a:xfrm>
            <a:custGeom>
              <a:avLst/>
              <a:gdLst/>
              <a:ahLst/>
              <a:cxnLst/>
              <a:rect l="l" t="t" r="r" b="b"/>
              <a:pathLst>
                <a:path w="5816600" h="1840738">
                  <a:moveTo>
                    <a:pt x="0" y="0"/>
                  </a:moveTo>
                  <a:lnTo>
                    <a:pt x="5816600" y="0"/>
                  </a:lnTo>
                  <a:lnTo>
                    <a:pt x="5816600" y="1840738"/>
                  </a:lnTo>
                  <a:lnTo>
                    <a:pt x="0" y="1840738"/>
                  </a:lnTo>
                  <a:lnTo>
                    <a:pt x="0" y="0"/>
                  </a:lnTo>
                  <a:close/>
                </a:path>
              </a:pathLst>
            </a:custGeom>
            <a:blipFill>
              <a:blip r:embed="rId2"/>
              <a:stretch>
                <a:fillRect b="2"/>
              </a:stretch>
            </a:blipFill>
          </p:spPr>
        </p:sp>
      </p:grpSp>
      <p:grpSp>
        <p:nvGrpSpPr>
          <p:cNvPr id="4" name="Group 4"/>
          <p:cNvGrpSpPr/>
          <p:nvPr/>
        </p:nvGrpSpPr>
        <p:grpSpPr>
          <a:xfrm>
            <a:off x="2928206" y="9780631"/>
            <a:ext cx="2625805" cy="830953"/>
            <a:chOff x="0" y="0"/>
            <a:chExt cx="5816600" cy="1840700"/>
          </a:xfrm>
        </p:grpSpPr>
        <p:sp>
          <p:nvSpPr>
            <p:cNvPr id="5" name="Freeform 5"/>
            <p:cNvSpPr/>
            <p:nvPr/>
          </p:nvSpPr>
          <p:spPr>
            <a:xfrm>
              <a:off x="0" y="0"/>
              <a:ext cx="5816600" cy="1840738"/>
            </a:xfrm>
            <a:custGeom>
              <a:avLst/>
              <a:gdLst/>
              <a:ahLst/>
              <a:cxnLst/>
              <a:rect l="l" t="t" r="r" b="b"/>
              <a:pathLst>
                <a:path w="5816600" h="1840738">
                  <a:moveTo>
                    <a:pt x="0" y="0"/>
                  </a:moveTo>
                  <a:lnTo>
                    <a:pt x="5816600" y="0"/>
                  </a:lnTo>
                  <a:lnTo>
                    <a:pt x="5816600" y="1840738"/>
                  </a:lnTo>
                  <a:lnTo>
                    <a:pt x="0" y="1840738"/>
                  </a:lnTo>
                  <a:lnTo>
                    <a:pt x="0" y="0"/>
                  </a:lnTo>
                  <a:close/>
                </a:path>
              </a:pathLst>
            </a:custGeom>
            <a:blipFill>
              <a:blip r:embed="rId2"/>
              <a:stretch>
                <a:fillRect b="2"/>
              </a:stretch>
            </a:blipFill>
          </p:spPr>
        </p:sp>
      </p:grpSp>
      <p:grpSp>
        <p:nvGrpSpPr>
          <p:cNvPr id="6" name="Group 6"/>
          <p:cNvGrpSpPr/>
          <p:nvPr/>
        </p:nvGrpSpPr>
        <p:grpSpPr>
          <a:xfrm>
            <a:off x="13367623" y="9656173"/>
            <a:ext cx="2625805" cy="830953"/>
            <a:chOff x="0" y="0"/>
            <a:chExt cx="5816600" cy="1840700"/>
          </a:xfrm>
        </p:grpSpPr>
        <p:sp>
          <p:nvSpPr>
            <p:cNvPr id="7" name="Freeform 7"/>
            <p:cNvSpPr/>
            <p:nvPr/>
          </p:nvSpPr>
          <p:spPr>
            <a:xfrm>
              <a:off x="0" y="0"/>
              <a:ext cx="5816600" cy="1840738"/>
            </a:xfrm>
            <a:custGeom>
              <a:avLst/>
              <a:gdLst/>
              <a:ahLst/>
              <a:cxnLst/>
              <a:rect l="l" t="t" r="r" b="b"/>
              <a:pathLst>
                <a:path w="5816600" h="1840738">
                  <a:moveTo>
                    <a:pt x="0" y="0"/>
                  </a:moveTo>
                  <a:lnTo>
                    <a:pt x="5816600" y="0"/>
                  </a:lnTo>
                  <a:lnTo>
                    <a:pt x="5816600" y="1840738"/>
                  </a:lnTo>
                  <a:lnTo>
                    <a:pt x="0" y="1840738"/>
                  </a:lnTo>
                  <a:lnTo>
                    <a:pt x="0" y="0"/>
                  </a:lnTo>
                  <a:close/>
                </a:path>
              </a:pathLst>
            </a:custGeom>
            <a:blipFill>
              <a:blip r:embed="rId2"/>
              <a:stretch>
                <a:fillRect b="2"/>
              </a:stretch>
            </a:blipFill>
          </p:spPr>
        </p:sp>
      </p:grpSp>
      <p:grpSp>
        <p:nvGrpSpPr>
          <p:cNvPr id="8" name="Group 8"/>
          <p:cNvGrpSpPr/>
          <p:nvPr/>
        </p:nvGrpSpPr>
        <p:grpSpPr>
          <a:xfrm>
            <a:off x="7990242" y="9984655"/>
            <a:ext cx="173987" cy="173987"/>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7CB5"/>
            </a:solidFill>
          </p:spPr>
        </p:sp>
        <p:sp>
          <p:nvSpPr>
            <p:cNvPr id="10" name="TextBox 10"/>
            <p:cNvSpPr txBox="1"/>
            <p:nvPr/>
          </p:nvSpPr>
          <p:spPr>
            <a:xfrm>
              <a:off x="76200" y="47625"/>
              <a:ext cx="660400" cy="688975"/>
            </a:xfrm>
            <a:prstGeom prst="rect">
              <a:avLst/>
            </a:prstGeom>
          </p:spPr>
          <p:txBody>
            <a:bodyPr lIns="50800" tIns="50800" rIns="50800" bIns="50800" rtlCol="0" anchor="ctr"/>
            <a:lstStyle/>
            <a:p>
              <a:pPr algn="ctr">
                <a:lnSpc>
                  <a:spcPts val="2239"/>
                </a:lnSpc>
              </a:pPr>
              <a:endParaRPr/>
            </a:p>
          </p:txBody>
        </p:sp>
      </p:grpSp>
      <p:grpSp>
        <p:nvGrpSpPr>
          <p:cNvPr id="11" name="Group 11"/>
          <p:cNvGrpSpPr/>
          <p:nvPr/>
        </p:nvGrpSpPr>
        <p:grpSpPr>
          <a:xfrm>
            <a:off x="10353346" y="9948585"/>
            <a:ext cx="173987" cy="173987"/>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7CB5"/>
            </a:solidFill>
          </p:spPr>
        </p:sp>
        <p:sp>
          <p:nvSpPr>
            <p:cNvPr id="13" name="TextBox 13"/>
            <p:cNvSpPr txBox="1"/>
            <p:nvPr/>
          </p:nvSpPr>
          <p:spPr>
            <a:xfrm>
              <a:off x="76200" y="47625"/>
              <a:ext cx="660400" cy="688975"/>
            </a:xfrm>
            <a:prstGeom prst="rect">
              <a:avLst/>
            </a:prstGeom>
          </p:spPr>
          <p:txBody>
            <a:bodyPr lIns="50800" tIns="50800" rIns="50800" bIns="50800" rtlCol="0" anchor="ctr"/>
            <a:lstStyle/>
            <a:p>
              <a:pPr algn="ctr">
                <a:lnSpc>
                  <a:spcPts val="2239"/>
                </a:lnSpc>
              </a:pPr>
              <a:endParaRPr/>
            </a:p>
          </p:txBody>
        </p:sp>
      </p:grpSp>
      <p:grpSp>
        <p:nvGrpSpPr>
          <p:cNvPr id="14" name="Group 14"/>
          <p:cNvGrpSpPr/>
          <p:nvPr/>
        </p:nvGrpSpPr>
        <p:grpSpPr>
          <a:xfrm>
            <a:off x="3793881" y="1912811"/>
            <a:ext cx="10787794" cy="641986"/>
            <a:chOff x="0" y="0"/>
            <a:chExt cx="792516" cy="169083"/>
          </a:xfrm>
        </p:grpSpPr>
        <p:sp>
          <p:nvSpPr>
            <p:cNvPr id="15" name="Freeform 15"/>
            <p:cNvSpPr/>
            <p:nvPr/>
          </p:nvSpPr>
          <p:spPr>
            <a:xfrm>
              <a:off x="0" y="0"/>
              <a:ext cx="792516" cy="169083"/>
            </a:xfrm>
            <a:custGeom>
              <a:avLst/>
              <a:gdLst/>
              <a:ahLst/>
              <a:cxnLst/>
              <a:rect l="l" t="t" r="r" b="b"/>
              <a:pathLst>
                <a:path w="792516" h="169083">
                  <a:moveTo>
                    <a:pt x="84541" y="0"/>
                  </a:moveTo>
                  <a:lnTo>
                    <a:pt x="707975" y="0"/>
                  </a:lnTo>
                  <a:cubicBezTo>
                    <a:pt x="730397" y="0"/>
                    <a:pt x="751900" y="8907"/>
                    <a:pt x="767755" y="24762"/>
                  </a:cubicBezTo>
                  <a:cubicBezTo>
                    <a:pt x="783609" y="40616"/>
                    <a:pt x="792516" y="62120"/>
                    <a:pt x="792516" y="84541"/>
                  </a:cubicBezTo>
                  <a:lnTo>
                    <a:pt x="792516" y="84541"/>
                  </a:lnTo>
                  <a:cubicBezTo>
                    <a:pt x="792516" y="106963"/>
                    <a:pt x="783609" y="128467"/>
                    <a:pt x="767755" y="144321"/>
                  </a:cubicBezTo>
                  <a:cubicBezTo>
                    <a:pt x="751900" y="160176"/>
                    <a:pt x="730397" y="169083"/>
                    <a:pt x="707975" y="169083"/>
                  </a:cubicBezTo>
                  <a:lnTo>
                    <a:pt x="84541" y="169083"/>
                  </a:lnTo>
                  <a:cubicBezTo>
                    <a:pt x="62120" y="169083"/>
                    <a:pt x="40616" y="160176"/>
                    <a:pt x="24762" y="144321"/>
                  </a:cubicBezTo>
                  <a:cubicBezTo>
                    <a:pt x="8907" y="128467"/>
                    <a:pt x="0" y="106963"/>
                    <a:pt x="0" y="84541"/>
                  </a:cubicBezTo>
                  <a:lnTo>
                    <a:pt x="0" y="84541"/>
                  </a:lnTo>
                  <a:cubicBezTo>
                    <a:pt x="0" y="62120"/>
                    <a:pt x="8907" y="40616"/>
                    <a:pt x="24762" y="24762"/>
                  </a:cubicBezTo>
                  <a:cubicBezTo>
                    <a:pt x="40616" y="8907"/>
                    <a:pt x="62120" y="0"/>
                    <a:pt x="84541" y="0"/>
                  </a:cubicBezTo>
                  <a:close/>
                </a:path>
              </a:pathLst>
            </a:custGeom>
            <a:solidFill>
              <a:srgbClr val="FA7CB5"/>
            </a:solidFill>
          </p:spPr>
        </p:sp>
        <p:sp>
          <p:nvSpPr>
            <p:cNvPr id="16" name="TextBox 16"/>
            <p:cNvSpPr txBox="1"/>
            <p:nvPr/>
          </p:nvSpPr>
          <p:spPr>
            <a:xfrm>
              <a:off x="0" y="-28575"/>
              <a:ext cx="792516" cy="197658"/>
            </a:xfrm>
            <a:prstGeom prst="rect">
              <a:avLst/>
            </a:prstGeom>
          </p:spPr>
          <p:txBody>
            <a:bodyPr lIns="50800" tIns="50800" rIns="50800" bIns="50800" rtlCol="0" anchor="ctr"/>
            <a:lstStyle/>
            <a:p>
              <a:pPr algn="ctr">
                <a:lnSpc>
                  <a:spcPts val="2239"/>
                </a:lnSpc>
              </a:pPr>
              <a:endParaRPr/>
            </a:p>
          </p:txBody>
        </p:sp>
      </p:grpSp>
      <p:sp>
        <p:nvSpPr>
          <p:cNvPr id="17" name="Freeform 17"/>
          <p:cNvSpPr/>
          <p:nvPr/>
        </p:nvSpPr>
        <p:spPr>
          <a:xfrm>
            <a:off x="13002366" y="-47625"/>
            <a:ext cx="5063940" cy="1941386"/>
          </a:xfrm>
          <a:custGeom>
            <a:avLst/>
            <a:gdLst/>
            <a:ahLst/>
            <a:cxnLst/>
            <a:rect l="l" t="t" r="r" b="b"/>
            <a:pathLst>
              <a:path w="5063940" h="1941386">
                <a:moveTo>
                  <a:pt x="0" y="0"/>
                </a:moveTo>
                <a:lnTo>
                  <a:pt x="5063940" y="0"/>
                </a:lnTo>
                <a:lnTo>
                  <a:pt x="5063940" y="1941386"/>
                </a:lnTo>
                <a:lnTo>
                  <a:pt x="0" y="1941386"/>
                </a:lnTo>
                <a:lnTo>
                  <a:pt x="0" y="0"/>
                </a:lnTo>
                <a:close/>
              </a:path>
            </a:pathLst>
          </a:custGeom>
          <a:blipFill>
            <a:blip r:embed="rId3"/>
            <a:stretch>
              <a:fillRect/>
            </a:stretch>
          </a:blipFill>
        </p:spPr>
      </p:sp>
      <p:sp>
        <p:nvSpPr>
          <p:cNvPr id="18" name="TextBox 18"/>
          <p:cNvSpPr txBox="1"/>
          <p:nvPr/>
        </p:nvSpPr>
        <p:spPr>
          <a:xfrm>
            <a:off x="8316142" y="9882546"/>
            <a:ext cx="1743273" cy="264135"/>
          </a:xfrm>
          <a:prstGeom prst="rect">
            <a:avLst/>
          </a:prstGeom>
        </p:spPr>
        <p:txBody>
          <a:bodyPr lIns="0" tIns="0" rIns="0" bIns="0" rtlCol="0" anchor="t">
            <a:spAutoFit/>
          </a:bodyPr>
          <a:lstStyle/>
          <a:p>
            <a:pPr algn="l">
              <a:lnSpc>
                <a:spcPts val="2239"/>
              </a:lnSpc>
            </a:pPr>
            <a:r>
              <a:rPr lang="en-US" sz="1599">
                <a:solidFill>
                  <a:srgbClr val="000000"/>
                </a:solidFill>
                <a:latin typeface="IBM Plex Sans"/>
                <a:ea typeface="IBM Plex Sans"/>
                <a:cs typeface="IBM Plex Sans"/>
                <a:sym typeface="IBM Plex Sans"/>
              </a:rPr>
              <a:t>Q-Hack India 2026</a:t>
            </a:r>
          </a:p>
        </p:txBody>
      </p:sp>
      <p:sp>
        <p:nvSpPr>
          <p:cNvPr id="19" name="Freeform 19"/>
          <p:cNvSpPr/>
          <p:nvPr/>
        </p:nvSpPr>
        <p:spPr>
          <a:xfrm>
            <a:off x="7514703" y="-217781"/>
            <a:ext cx="2134862" cy="2130592"/>
          </a:xfrm>
          <a:custGeom>
            <a:avLst/>
            <a:gdLst/>
            <a:ahLst/>
            <a:cxnLst/>
            <a:rect l="l" t="t" r="r" b="b"/>
            <a:pathLst>
              <a:path w="2134862" h="2130592">
                <a:moveTo>
                  <a:pt x="0" y="0"/>
                </a:moveTo>
                <a:lnTo>
                  <a:pt x="2134862" y="0"/>
                </a:lnTo>
                <a:lnTo>
                  <a:pt x="2134862" y="2130592"/>
                </a:lnTo>
                <a:lnTo>
                  <a:pt x="0" y="2130592"/>
                </a:lnTo>
                <a:lnTo>
                  <a:pt x="0" y="0"/>
                </a:lnTo>
                <a:close/>
              </a:path>
            </a:pathLst>
          </a:custGeom>
          <a:blipFill>
            <a:blip r:embed="rId4"/>
            <a:stretch>
              <a:fillRect/>
            </a:stretch>
          </a:blipFill>
        </p:spPr>
      </p:sp>
      <p:grpSp>
        <p:nvGrpSpPr>
          <p:cNvPr id="20" name="Group 20"/>
          <p:cNvGrpSpPr/>
          <p:nvPr/>
        </p:nvGrpSpPr>
        <p:grpSpPr>
          <a:xfrm>
            <a:off x="16525717" y="8546310"/>
            <a:ext cx="1467166" cy="1525339"/>
            <a:chOff x="0" y="0"/>
            <a:chExt cx="3890124" cy="4044366"/>
          </a:xfrm>
        </p:grpSpPr>
        <p:sp>
          <p:nvSpPr>
            <p:cNvPr id="21" name="Freeform 21"/>
            <p:cNvSpPr/>
            <p:nvPr/>
          </p:nvSpPr>
          <p:spPr>
            <a:xfrm>
              <a:off x="0" y="0"/>
              <a:ext cx="3890137" cy="4044315"/>
            </a:xfrm>
            <a:custGeom>
              <a:avLst/>
              <a:gdLst/>
              <a:ahLst/>
              <a:cxnLst/>
              <a:rect l="l" t="t" r="r" b="b"/>
              <a:pathLst>
                <a:path w="3890137" h="4044315">
                  <a:moveTo>
                    <a:pt x="0" y="0"/>
                  </a:moveTo>
                  <a:lnTo>
                    <a:pt x="3890137" y="0"/>
                  </a:lnTo>
                  <a:lnTo>
                    <a:pt x="3890137" y="4044315"/>
                  </a:lnTo>
                  <a:lnTo>
                    <a:pt x="0" y="4044315"/>
                  </a:lnTo>
                  <a:lnTo>
                    <a:pt x="0" y="0"/>
                  </a:lnTo>
                  <a:close/>
                </a:path>
              </a:pathLst>
            </a:custGeom>
            <a:blipFill>
              <a:blip r:embed="rId5"/>
              <a:stretch>
                <a:fillRect b="-1"/>
              </a:stretch>
            </a:blipFill>
          </p:spPr>
        </p:sp>
      </p:grpSp>
      <p:sp>
        <p:nvSpPr>
          <p:cNvPr id="22" name="TextBox 22"/>
          <p:cNvSpPr txBox="1"/>
          <p:nvPr/>
        </p:nvSpPr>
        <p:spPr>
          <a:xfrm>
            <a:off x="4387178" y="1946787"/>
            <a:ext cx="9601199" cy="1065869"/>
          </a:xfrm>
          <a:prstGeom prst="rect">
            <a:avLst/>
          </a:prstGeom>
        </p:spPr>
        <p:txBody>
          <a:bodyPr wrap="square" lIns="0" tIns="0" rIns="0" bIns="0" rtlCol="0" anchor="t">
            <a:spAutoFit/>
          </a:bodyPr>
          <a:lstStyle/>
          <a:p>
            <a:pPr algn="just">
              <a:lnSpc>
                <a:spcPts val="4339"/>
              </a:lnSpc>
              <a:spcBef>
                <a:spcPct val="0"/>
              </a:spcBef>
            </a:pPr>
            <a:r>
              <a:rPr lang="en-US" sz="3099" b="1" dirty="0">
                <a:solidFill>
                  <a:srgbClr val="000000"/>
                </a:solidFill>
                <a:latin typeface="IBM Plex Sans"/>
                <a:ea typeface="IBM Plex Sans"/>
                <a:cs typeface="IBM Plex Sans"/>
                <a:sym typeface="IBM Plex Sans"/>
              </a:rPr>
              <a:t>The "Black Box“ Problem of Classical Randomness</a:t>
            </a:r>
          </a:p>
          <a:p>
            <a:pPr algn="just">
              <a:lnSpc>
                <a:spcPts val="4339"/>
              </a:lnSpc>
              <a:spcBef>
                <a:spcPct val="0"/>
              </a:spcBef>
            </a:pPr>
            <a:endParaRPr lang="en-US" sz="3099" dirty="0">
              <a:solidFill>
                <a:srgbClr val="000000"/>
              </a:solidFill>
              <a:latin typeface="IBM Plex Sans"/>
              <a:ea typeface="IBM Plex Sans"/>
              <a:cs typeface="IBM Plex Sans"/>
              <a:sym typeface="IBM Plex Sans"/>
            </a:endParaRPr>
          </a:p>
        </p:txBody>
      </p:sp>
      <p:sp>
        <p:nvSpPr>
          <p:cNvPr id="23" name="TextBox 23"/>
          <p:cNvSpPr txBox="1"/>
          <p:nvPr/>
        </p:nvSpPr>
        <p:spPr>
          <a:xfrm>
            <a:off x="1636678" y="2716386"/>
            <a:ext cx="12881114" cy="6580199"/>
          </a:xfrm>
          <a:prstGeom prst="rect">
            <a:avLst/>
          </a:prstGeom>
        </p:spPr>
        <p:txBody>
          <a:bodyPr wrap="square" lIns="0" tIns="0" rIns="0" bIns="0" rtlCol="0" anchor="t">
            <a:spAutoFit/>
          </a:bodyPr>
          <a:lstStyle/>
          <a:p>
            <a:pPr>
              <a:lnSpc>
                <a:spcPts val="4339"/>
              </a:lnSpc>
              <a:spcBef>
                <a:spcPct val="0"/>
              </a:spcBef>
            </a:pPr>
            <a:r>
              <a:rPr lang="en-US" sz="3099" dirty="0">
                <a:solidFill>
                  <a:srgbClr val="000000"/>
                </a:solidFill>
                <a:latin typeface="IBM Plex Sans"/>
                <a:ea typeface="IBM Plex Sans"/>
                <a:cs typeface="IBM Plex Sans"/>
                <a:sym typeface="IBM Plex Sans"/>
              </a:rPr>
              <a:t>We are solving the fundamental lack of verifiable trust in high-stakes random draws, such as lotteries, blockchain validator selection, IPO allotments, and crypto token drops. </a:t>
            </a:r>
          </a:p>
          <a:p>
            <a:pPr>
              <a:lnSpc>
                <a:spcPts val="4339"/>
              </a:lnSpc>
              <a:spcBef>
                <a:spcPct val="0"/>
              </a:spcBef>
            </a:pPr>
            <a:r>
              <a:rPr lang="en-US" sz="3099" dirty="0">
                <a:solidFill>
                  <a:srgbClr val="000000"/>
                </a:solidFill>
                <a:latin typeface="IBM Plex Sans"/>
                <a:ea typeface="IBM Plex Sans"/>
                <a:cs typeface="IBM Plex Sans"/>
                <a:sym typeface="IBM Plex Sans"/>
              </a:rPr>
              <a:t> </a:t>
            </a:r>
          </a:p>
          <a:p>
            <a:pPr>
              <a:lnSpc>
                <a:spcPts val="4339"/>
              </a:lnSpc>
              <a:spcBef>
                <a:spcPct val="0"/>
              </a:spcBef>
            </a:pPr>
            <a:r>
              <a:rPr lang="en-US" sz="3099" b="1" dirty="0">
                <a:solidFill>
                  <a:srgbClr val="000000"/>
                </a:solidFill>
                <a:latin typeface="IBM Plex Sans"/>
                <a:ea typeface="IBM Plex Sans"/>
                <a:cs typeface="IBM Plex Sans"/>
                <a:sym typeface="IBM Plex Sans"/>
              </a:rPr>
              <a:t>The Context:</a:t>
            </a:r>
          </a:p>
          <a:p>
            <a:pPr>
              <a:lnSpc>
                <a:spcPts val="4339"/>
              </a:lnSpc>
              <a:spcBef>
                <a:spcPct val="0"/>
              </a:spcBef>
            </a:pPr>
            <a:r>
              <a:rPr lang="en-US" sz="3099" dirty="0">
                <a:solidFill>
                  <a:srgbClr val="000000"/>
                </a:solidFill>
                <a:latin typeface="IBM Plex Sans"/>
                <a:ea typeface="IBM Plex Sans"/>
                <a:cs typeface="IBM Plex Sans"/>
                <a:sym typeface="IBM Plex Sans"/>
              </a:rPr>
              <a:t>Currently, digital systems rely on Classical PRNGs (Pseudorandom Number Generators) which use hidden mathematical algorithms and secret "seeds" to pick numbers. Because this operates as a "black box," a genuinely fair draw and a maliciously rigged draw look completely identical from the outside. Users are forced to blindly trust the software vendor or the insider running the code, leaving massive financial systems highly vulnerable to undetectable manipulation.</a:t>
            </a:r>
          </a:p>
        </p:txBody>
      </p:sp>
      <p:sp>
        <p:nvSpPr>
          <p:cNvPr id="24" name="Freeform 24"/>
          <p:cNvSpPr/>
          <p:nvPr/>
        </p:nvSpPr>
        <p:spPr>
          <a:xfrm>
            <a:off x="264376" y="407706"/>
            <a:ext cx="3092172" cy="1030724"/>
          </a:xfrm>
          <a:custGeom>
            <a:avLst/>
            <a:gdLst/>
            <a:ahLst/>
            <a:cxnLst/>
            <a:rect l="l" t="t" r="r" b="b"/>
            <a:pathLst>
              <a:path w="3092172" h="1030724">
                <a:moveTo>
                  <a:pt x="0" y="0"/>
                </a:moveTo>
                <a:lnTo>
                  <a:pt x="3092172" y="0"/>
                </a:lnTo>
                <a:lnTo>
                  <a:pt x="3092172" y="1030724"/>
                </a:lnTo>
                <a:lnTo>
                  <a:pt x="0" y="1030724"/>
                </a:lnTo>
                <a:lnTo>
                  <a:pt x="0" y="0"/>
                </a:lnTo>
                <a:close/>
              </a:path>
            </a:pathLst>
          </a:custGeom>
          <a:blipFill>
            <a:blip r:embed="rId6"/>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0E0E0"/>
        </a:solidFill>
        <a:effectLst/>
      </p:bgPr>
    </p:bg>
    <p:spTree>
      <p:nvGrpSpPr>
        <p:cNvPr id="1" name=""/>
        <p:cNvGrpSpPr/>
        <p:nvPr/>
      </p:nvGrpSpPr>
      <p:grpSpPr>
        <a:xfrm>
          <a:off x="0" y="0"/>
          <a:ext cx="0" cy="0"/>
          <a:chOff x="0" y="0"/>
          <a:chExt cx="0" cy="0"/>
        </a:xfrm>
      </p:grpSpPr>
      <p:grpSp>
        <p:nvGrpSpPr>
          <p:cNvPr id="2" name="Group 2"/>
          <p:cNvGrpSpPr/>
          <p:nvPr/>
        </p:nvGrpSpPr>
        <p:grpSpPr>
          <a:xfrm>
            <a:off x="-1597105" y="2516808"/>
            <a:ext cx="2625805" cy="830953"/>
            <a:chOff x="0" y="0"/>
            <a:chExt cx="5816600" cy="1840700"/>
          </a:xfrm>
        </p:grpSpPr>
        <p:sp>
          <p:nvSpPr>
            <p:cNvPr id="3" name="Freeform 3"/>
            <p:cNvSpPr/>
            <p:nvPr/>
          </p:nvSpPr>
          <p:spPr>
            <a:xfrm>
              <a:off x="0" y="0"/>
              <a:ext cx="5816600" cy="1840738"/>
            </a:xfrm>
            <a:custGeom>
              <a:avLst/>
              <a:gdLst/>
              <a:ahLst/>
              <a:cxnLst/>
              <a:rect l="l" t="t" r="r" b="b"/>
              <a:pathLst>
                <a:path w="5816600" h="1840738">
                  <a:moveTo>
                    <a:pt x="0" y="0"/>
                  </a:moveTo>
                  <a:lnTo>
                    <a:pt x="5816600" y="0"/>
                  </a:lnTo>
                  <a:lnTo>
                    <a:pt x="5816600" y="1840738"/>
                  </a:lnTo>
                  <a:lnTo>
                    <a:pt x="0" y="1840738"/>
                  </a:lnTo>
                  <a:lnTo>
                    <a:pt x="0" y="0"/>
                  </a:lnTo>
                  <a:close/>
                </a:path>
              </a:pathLst>
            </a:custGeom>
            <a:blipFill>
              <a:blip r:embed="rId2"/>
              <a:stretch>
                <a:fillRect b="2"/>
              </a:stretch>
            </a:blipFill>
          </p:spPr>
        </p:sp>
      </p:grpSp>
      <p:grpSp>
        <p:nvGrpSpPr>
          <p:cNvPr id="4" name="Group 4"/>
          <p:cNvGrpSpPr/>
          <p:nvPr/>
        </p:nvGrpSpPr>
        <p:grpSpPr>
          <a:xfrm>
            <a:off x="2928206" y="9780631"/>
            <a:ext cx="2625805" cy="830953"/>
            <a:chOff x="0" y="0"/>
            <a:chExt cx="5816600" cy="1840700"/>
          </a:xfrm>
        </p:grpSpPr>
        <p:sp>
          <p:nvSpPr>
            <p:cNvPr id="5" name="Freeform 5"/>
            <p:cNvSpPr/>
            <p:nvPr/>
          </p:nvSpPr>
          <p:spPr>
            <a:xfrm>
              <a:off x="0" y="0"/>
              <a:ext cx="5816600" cy="1840738"/>
            </a:xfrm>
            <a:custGeom>
              <a:avLst/>
              <a:gdLst/>
              <a:ahLst/>
              <a:cxnLst/>
              <a:rect l="l" t="t" r="r" b="b"/>
              <a:pathLst>
                <a:path w="5816600" h="1840738">
                  <a:moveTo>
                    <a:pt x="0" y="0"/>
                  </a:moveTo>
                  <a:lnTo>
                    <a:pt x="5816600" y="0"/>
                  </a:lnTo>
                  <a:lnTo>
                    <a:pt x="5816600" y="1840738"/>
                  </a:lnTo>
                  <a:lnTo>
                    <a:pt x="0" y="1840738"/>
                  </a:lnTo>
                  <a:lnTo>
                    <a:pt x="0" y="0"/>
                  </a:lnTo>
                  <a:close/>
                </a:path>
              </a:pathLst>
            </a:custGeom>
            <a:blipFill>
              <a:blip r:embed="rId2"/>
              <a:stretch>
                <a:fillRect b="2"/>
              </a:stretch>
            </a:blipFill>
          </p:spPr>
        </p:sp>
      </p:grpSp>
      <p:grpSp>
        <p:nvGrpSpPr>
          <p:cNvPr id="6" name="Group 6"/>
          <p:cNvGrpSpPr/>
          <p:nvPr/>
        </p:nvGrpSpPr>
        <p:grpSpPr>
          <a:xfrm>
            <a:off x="13367623" y="9656173"/>
            <a:ext cx="2625805" cy="830953"/>
            <a:chOff x="0" y="0"/>
            <a:chExt cx="5816600" cy="1840700"/>
          </a:xfrm>
        </p:grpSpPr>
        <p:sp>
          <p:nvSpPr>
            <p:cNvPr id="7" name="Freeform 7"/>
            <p:cNvSpPr/>
            <p:nvPr/>
          </p:nvSpPr>
          <p:spPr>
            <a:xfrm>
              <a:off x="0" y="0"/>
              <a:ext cx="5816600" cy="1840738"/>
            </a:xfrm>
            <a:custGeom>
              <a:avLst/>
              <a:gdLst/>
              <a:ahLst/>
              <a:cxnLst/>
              <a:rect l="l" t="t" r="r" b="b"/>
              <a:pathLst>
                <a:path w="5816600" h="1840738">
                  <a:moveTo>
                    <a:pt x="0" y="0"/>
                  </a:moveTo>
                  <a:lnTo>
                    <a:pt x="5816600" y="0"/>
                  </a:lnTo>
                  <a:lnTo>
                    <a:pt x="5816600" y="1840738"/>
                  </a:lnTo>
                  <a:lnTo>
                    <a:pt x="0" y="1840738"/>
                  </a:lnTo>
                  <a:lnTo>
                    <a:pt x="0" y="0"/>
                  </a:lnTo>
                  <a:close/>
                </a:path>
              </a:pathLst>
            </a:custGeom>
            <a:blipFill>
              <a:blip r:embed="rId2"/>
              <a:stretch>
                <a:fillRect b="2"/>
              </a:stretch>
            </a:blipFill>
          </p:spPr>
        </p:sp>
      </p:grpSp>
      <p:grpSp>
        <p:nvGrpSpPr>
          <p:cNvPr id="8" name="Group 8"/>
          <p:cNvGrpSpPr/>
          <p:nvPr/>
        </p:nvGrpSpPr>
        <p:grpSpPr>
          <a:xfrm>
            <a:off x="7990242" y="9984655"/>
            <a:ext cx="173987" cy="173987"/>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7CB5"/>
            </a:solidFill>
          </p:spPr>
        </p:sp>
        <p:sp>
          <p:nvSpPr>
            <p:cNvPr id="10" name="TextBox 10"/>
            <p:cNvSpPr txBox="1"/>
            <p:nvPr/>
          </p:nvSpPr>
          <p:spPr>
            <a:xfrm>
              <a:off x="76200" y="47625"/>
              <a:ext cx="660400" cy="688975"/>
            </a:xfrm>
            <a:prstGeom prst="rect">
              <a:avLst/>
            </a:prstGeom>
          </p:spPr>
          <p:txBody>
            <a:bodyPr lIns="50800" tIns="50800" rIns="50800" bIns="50800" rtlCol="0" anchor="ctr"/>
            <a:lstStyle/>
            <a:p>
              <a:pPr algn="ctr">
                <a:lnSpc>
                  <a:spcPts val="2239"/>
                </a:lnSpc>
              </a:pPr>
              <a:endParaRPr/>
            </a:p>
          </p:txBody>
        </p:sp>
      </p:grpSp>
      <p:grpSp>
        <p:nvGrpSpPr>
          <p:cNvPr id="11" name="Group 11"/>
          <p:cNvGrpSpPr/>
          <p:nvPr/>
        </p:nvGrpSpPr>
        <p:grpSpPr>
          <a:xfrm>
            <a:off x="10353346" y="9948585"/>
            <a:ext cx="173987" cy="173987"/>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7CB5"/>
            </a:solidFill>
          </p:spPr>
        </p:sp>
        <p:sp>
          <p:nvSpPr>
            <p:cNvPr id="13" name="TextBox 13"/>
            <p:cNvSpPr txBox="1"/>
            <p:nvPr/>
          </p:nvSpPr>
          <p:spPr>
            <a:xfrm>
              <a:off x="76200" y="47625"/>
              <a:ext cx="660400" cy="688975"/>
            </a:xfrm>
            <a:prstGeom prst="rect">
              <a:avLst/>
            </a:prstGeom>
          </p:spPr>
          <p:txBody>
            <a:bodyPr lIns="50800" tIns="50800" rIns="50800" bIns="50800" rtlCol="0" anchor="ctr"/>
            <a:lstStyle/>
            <a:p>
              <a:pPr algn="ctr">
                <a:lnSpc>
                  <a:spcPts val="2239"/>
                </a:lnSpc>
              </a:pPr>
              <a:endParaRPr/>
            </a:p>
          </p:txBody>
        </p:sp>
      </p:grpSp>
      <p:grpSp>
        <p:nvGrpSpPr>
          <p:cNvPr id="14" name="Group 14"/>
          <p:cNvGrpSpPr/>
          <p:nvPr/>
        </p:nvGrpSpPr>
        <p:grpSpPr>
          <a:xfrm>
            <a:off x="4482134" y="1747450"/>
            <a:ext cx="7668015" cy="641986"/>
            <a:chOff x="0" y="0"/>
            <a:chExt cx="861971" cy="169083"/>
          </a:xfrm>
        </p:grpSpPr>
        <p:sp>
          <p:nvSpPr>
            <p:cNvPr id="15" name="Freeform 15"/>
            <p:cNvSpPr/>
            <p:nvPr/>
          </p:nvSpPr>
          <p:spPr>
            <a:xfrm>
              <a:off x="0" y="0"/>
              <a:ext cx="861971" cy="169083"/>
            </a:xfrm>
            <a:custGeom>
              <a:avLst/>
              <a:gdLst/>
              <a:ahLst/>
              <a:cxnLst/>
              <a:rect l="l" t="t" r="r" b="b"/>
              <a:pathLst>
                <a:path w="861971" h="169083">
                  <a:moveTo>
                    <a:pt x="84541" y="0"/>
                  </a:moveTo>
                  <a:lnTo>
                    <a:pt x="777430" y="0"/>
                  </a:lnTo>
                  <a:cubicBezTo>
                    <a:pt x="799852" y="0"/>
                    <a:pt x="821355" y="8907"/>
                    <a:pt x="837210" y="24762"/>
                  </a:cubicBezTo>
                  <a:cubicBezTo>
                    <a:pt x="853064" y="40616"/>
                    <a:pt x="861971" y="62120"/>
                    <a:pt x="861971" y="84541"/>
                  </a:cubicBezTo>
                  <a:lnTo>
                    <a:pt x="861971" y="84541"/>
                  </a:lnTo>
                  <a:cubicBezTo>
                    <a:pt x="861971" y="106963"/>
                    <a:pt x="853064" y="128467"/>
                    <a:pt x="837210" y="144321"/>
                  </a:cubicBezTo>
                  <a:cubicBezTo>
                    <a:pt x="821355" y="160176"/>
                    <a:pt x="799852" y="169083"/>
                    <a:pt x="777430" y="169083"/>
                  </a:cubicBezTo>
                  <a:lnTo>
                    <a:pt x="84541" y="169083"/>
                  </a:lnTo>
                  <a:cubicBezTo>
                    <a:pt x="62120" y="169083"/>
                    <a:pt x="40616" y="160176"/>
                    <a:pt x="24762" y="144321"/>
                  </a:cubicBezTo>
                  <a:cubicBezTo>
                    <a:pt x="8907" y="128467"/>
                    <a:pt x="0" y="106963"/>
                    <a:pt x="0" y="84541"/>
                  </a:cubicBezTo>
                  <a:lnTo>
                    <a:pt x="0" y="84541"/>
                  </a:lnTo>
                  <a:cubicBezTo>
                    <a:pt x="0" y="62120"/>
                    <a:pt x="8907" y="40616"/>
                    <a:pt x="24762" y="24762"/>
                  </a:cubicBezTo>
                  <a:cubicBezTo>
                    <a:pt x="40616" y="8907"/>
                    <a:pt x="62120" y="0"/>
                    <a:pt x="84541" y="0"/>
                  </a:cubicBezTo>
                  <a:close/>
                </a:path>
              </a:pathLst>
            </a:custGeom>
            <a:solidFill>
              <a:srgbClr val="FA7CB5"/>
            </a:solidFill>
          </p:spPr>
        </p:sp>
        <p:sp>
          <p:nvSpPr>
            <p:cNvPr id="16" name="TextBox 16"/>
            <p:cNvSpPr txBox="1"/>
            <p:nvPr/>
          </p:nvSpPr>
          <p:spPr>
            <a:xfrm>
              <a:off x="0" y="-28575"/>
              <a:ext cx="861971" cy="197658"/>
            </a:xfrm>
            <a:prstGeom prst="rect">
              <a:avLst/>
            </a:prstGeom>
          </p:spPr>
          <p:txBody>
            <a:bodyPr lIns="50800" tIns="50800" rIns="50800" bIns="50800" rtlCol="0" anchor="ctr"/>
            <a:lstStyle/>
            <a:p>
              <a:pPr algn="ctr">
                <a:lnSpc>
                  <a:spcPts val="2239"/>
                </a:lnSpc>
              </a:pPr>
              <a:endParaRPr/>
            </a:p>
          </p:txBody>
        </p:sp>
      </p:grpSp>
      <p:sp>
        <p:nvSpPr>
          <p:cNvPr id="17" name="Freeform 17"/>
          <p:cNvSpPr/>
          <p:nvPr/>
        </p:nvSpPr>
        <p:spPr>
          <a:xfrm>
            <a:off x="13002366" y="-47625"/>
            <a:ext cx="5063940" cy="1941386"/>
          </a:xfrm>
          <a:custGeom>
            <a:avLst/>
            <a:gdLst/>
            <a:ahLst/>
            <a:cxnLst/>
            <a:rect l="l" t="t" r="r" b="b"/>
            <a:pathLst>
              <a:path w="5063940" h="1941386">
                <a:moveTo>
                  <a:pt x="0" y="0"/>
                </a:moveTo>
                <a:lnTo>
                  <a:pt x="5063940" y="0"/>
                </a:lnTo>
                <a:lnTo>
                  <a:pt x="5063940" y="1941386"/>
                </a:lnTo>
                <a:lnTo>
                  <a:pt x="0" y="1941386"/>
                </a:lnTo>
                <a:lnTo>
                  <a:pt x="0" y="0"/>
                </a:lnTo>
                <a:close/>
              </a:path>
            </a:pathLst>
          </a:custGeom>
          <a:blipFill>
            <a:blip r:embed="rId3"/>
            <a:stretch>
              <a:fillRect/>
            </a:stretch>
          </a:blipFill>
        </p:spPr>
      </p:sp>
      <p:sp>
        <p:nvSpPr>
          <p:cNvPr id="18" name="TextBox 18"/>
          <p:cNvSpPr txBox="1"/>
          <p:nvPr/>
        </p:nvSpPr>
        <p:spPr>
          <a:xfrm>
            <a:off x="8316142" y="9882546"/>
            <a:ext cx="1743273" cy="264135"/>
          </a:xfrm>
          <a:prstGeom prst="rect">
            <a:avLst/>
          </a:prstGeom>
        </p:spPr>
        <p:txBody>
          <a:bodyPr lIns="0" tIns="0" rIns="0" bIns="0" rtlCol="0" anchor="t">
            <a:spAutoFit/>
          </a:bodyPr>
          <a:lstStyle/>
          <a:p>
            <a:pPr algn="l">
              <a:lnSpc>
                <a:spcPts val="2239"/>
              </a:lnSpc>
            </a:pPr>
            <a:r>
              <a:rPr lang="en-US" sz="1599">
                <a:solidFill>
                  <a:srgbClr val="000000"/>
                </a:solidFill>
                <a:latin typeface="IBM Plex Sans"/>
                <a:ea typeface="IBM Plex Sans"/>
                <a:cs typeface="IBM Plex Sans"/>
                <a:sym typeface="IBM Plex Sans"/>
              </a:rPr>
              <a:t>Q-Hack India 2026</a:t>
            </a:r>
          </a:p>
        </p:txBody>
      </p:sp>
      <p:sp>
        <p:nvSpPr>
          <p:cNvPr id="19" name="Freeform 19"/>
          <p:cNvSpPr/>
          <p:nvPr/>
        </p:nvSpPr>
        <p:spPr>
          <a:xfrm>
            <a:off x="7395629" y="-296938"/>
            <a:ext cx="2134862" cy="2130592"/>
          </a:xfrm>
          <a:custGeom>
            <a:avLst/>
            <a:gdLst/>
            <a:ahLst/>
            <a:cxnLst/>
            <a:rect l="l" t="t" r="r" b="b"/>
            <a:pathLst>
              <a:path w="2134862" h="2130592">
                <a:moveTo>
                  <a:pt x="0" y="0"/>
                </a:moveTo>
                <a:lnTo>
                  <a:pt x="2134862" y="0"/>
                </a:lnTo>
                <a:lnTo>
                  <a:pt x="2134862" y="2130592"/>
                </a:lnTo>
                <a:lnTo>
                  <a:pt x="0" y="2130592"/>
                </a:lnTo>
                <a:lnTo>
                  <a:pt x="0" y="0"/>
                </a:lnTo>
                <a:close/>
              </a:path>
            </a:pathLst>
          </a:custGeom>
          <a:blipFill>
            <a:blip r:embed="rId4"/>
            <a:stretch>
              <a:fillRect/>
            </a:stretch>
          </a:blipFill>
        </p:spPr>
      </p:sp>
      <p:grpSp>
        <p:nvGrpSpPr>
          <p:cNvPr id="20" name="Group 20"/>
          <p:cNvGrpSpPr/>
          <p:nvPr/>
        </p:nvGrpSpPr>
        <p:grpSpPr>
          <a:xfrm>
            <a:off x="16200432" y="8538631"/>
            <a:ext cx="1365659" cy="1173861"/>
            <a:chOff x="0" y="0"/>
            <a:chExt cx="4028567" cy="3462782"/>
          </a:xfrm>
        </p:grpSpPr>
        <p:sp>
          <p:nvSpPr>
            <p:cNvPr id="21" name="Freeform 21"/>
            <p:cNvSpPr/>
            <p:nvPr/>
          </p:nvSpPr>
          <p:spPr>
            <a:xfrm>
              <a:off x="0" y="0"/>
              <a:ext cx="4028567" cy="3462782"/>
            </a:xfrm>
            <a:custGeom>
              <a:avLst/>
              <a:gdLst/>
              <a:ahLst/>
              <a:cxnLst/>
              <a:rect l="l" t="t" r="r" b="b"/>
              <a:pathLst>
                <a:path w="4028567" h="3462782">
                  <a:moveTo>
                    <a:pt x="0" y="0"/>
                  </a:moveTo>
                  <a:lnTo>
                    <a:pt x="4028567" y="0"/>
                  </a:lnTo>
                  <a:lnTo>
                    <a:pt x="4028567" y="3462782"/>
                  </a:lnTo>
                  <a:lnTo>
                    <a:pt x="0" y="3462782"/>
                  </a:lnTo>
                  <a:lnTo>
                    <a:pt x="0" y="0"/>
                  </a:lnTo>
                  <a:close/>
                </a:path>
              </a:pathLst>
            </a:custGeom>
            <a:blipFill>
              <a:blip r:embed="rId5"/>
              <a:stretch>
                <a:fillRect/>
              </a:stretch>
            </a:blipFill>
          </p:spPr>
        </p:sp>
      </p:grpSp>
      <p:sp>
        <p:nvSpPr>
          <p:cNvPr id="22" name="TextBox 22"/>
          <p:cNvSpPr txBox="1"/>
          <p:nvPr/>
        </p:nvSpPr>
        <p:spPr>
          <a:xfrm>
            <a:off x="7570304" y="1366913"/>
            <a:ext cx="2238897" cy="453329"/>
          </a:xfrm>
          <a:prstGeom prst="rect">
            <a:avLst/>
          </a:prstGeom>
        </p:spPr>
        <p:txBody>
          <a:bodyPr wrap="square" lIns="0" tIns="0" rIns="0" bIns="0" rtlCol="0" anchor="t">
            <a:spAutoFit/>
          </a:bodyPr>
          <a:lstStyle/>
          <a:p>
            <a:pPr algn="ctr">
              <a:lnSpc>
                <a:spcPts val="3779"/>
              </a:lnSpc>
              <a:spcBef>
                <a:spcPct val="0"/>
              </a:spcBef>
            </a:pPr>
            <a:endParaRPr lang="en-US" sz="2699" dirty="0">
              <a:solidFill>
                <a:srgbClr val="000000"/>
              </a:solidFill>
              <a:latin typeface="IBM Plex Sans"/>
              <a:ea typeface="IBM Plex Sans"/>
              <a:cs typeface="IBM Plex Sans"/>
              <a:sym typeface="IBM Plex Sans"/>
            </a:endParaRPr>
          </a:p>
        </p:txBody>
      </p:sp>
      <p:sp>
        <p:nvSpPr>
          <p:cNvPr id="23" name="TextBox 23"/>
          <p:cNvSpPr txBox="1"/>
          <p:nvPr/>
        </p:nvSpPr>
        <p:spPr>
          <a:xfrm>
            <a:off x="457199" y="2556867"/>
            <a:ext cx="17108891" cy="6964855"/>
          </a:xfrm>
          <a:prstGeom prst="rect">
            <a:avLst/>
          </a:prstGeom>
        </p:spPr>
        <p:txBody>
          <a:bodyPr wrap="square" lIns="0" tIns="0" rIns="0" bIns="0" rtlCol="0" anchor="t">
            <a:spAutoFit/>
          </a:bodyPr>
          <a:lstStyle/>
          <a:p>
            <a:pPr>
              <a:lnSpc>
                <a:spcPts val="4199"/>
              </a:lnSpc>
              <a:spcBef>
                <a:spcPct val="0"/>
              </a:spcBef>
            </a:pPr>
            <a:endParaRPr lang="en-US" sz="2999" dirty="0">
              <a:solidFill>
                <a:srgbClr val="000000"/>
              </a:solidFill>
              <a:latin typeface="IBM Plex Sans"/>
              <a:ea typeface="IBM Plex Sans"/>
              <a:cs typeface="IBM Plex Sans"/>
              <a:sym typeface="IBM Plex Sans"/>
            </a:endParaRPr>
          </a:p>
          <a:p>
            <a:pPr>
              <a:lnSpc>
                <a:spcPts val="4199"/>
              </a:lnSpc>
              <a:spcBef>
                <a:spcPct val="0"/>
              </a:spcBef>
            </a:pPr>
            <a:r>
              <a:rPr lang="en-US" sz="2999" b="1" dirty="0">
                <a:solidFill>
                  <a:srgbClr val="000000"/>
                </a:solidFill>
                <a:latin typeface="IBM Plex Sans"/>
                <a:ea typeface="IBM Plex Sans"/>
                <a:cs typeface="IBM Plex Sans"/>
                <a:sym typeface="IBM Plex Sans"/>
              </a:rPr>
              <a:t>Who faces this problem?</a:t>
            </a:r>
          </a:p>
          <a:p>
            <a:pPr>
              <a:lnSpc>
                <a:spcPts val="4199"/>
              </a:lnSpc>
              <a:spcBef>
                <a:spcPct val="0"/>
              </a:spcBef>
            </a:pPr>
            <a:r>
              <a:rPr lang="en-US" sz="2999" dirty="0">
                <a:solidFill>
                  <a:srgbClr val="000000"/>
                </a:solidFill>
                <a:latin typeface="IBM Plex Sans"/>
                <a:ea typeface="IBM Plex Sans"/>
                <a:cs typeface="IBM Plex Sans"/>
                <a:sym typeface="IBM Plex Sans"/>
              </a:rPr>
              <a:t>This problem affects anyone managing or participating in high-stakes distributions: lottery commissions, cryptocurrency exchanges, financial regulators managing IPOs, and decentralized blockchain networks. </a:t>
            </a:r>
          </a:p>
          <a:p>
            <a:pPr algn="ctr">
              <a:lnSpc>
                <a:spcPts val="4199"/>
              </a:lnSpc>
              <a:spcBef>
                <a:spcPct val="0"/>
              </a:spcBef>
            </a:pPr>
            <a:endParaRPr lang="en-US" sz="2999" dirty="0">
              <a:solidFill>
                <a:srgbClr val="000000"/>
              </a:solidFill>
              <a:latin typeface="IBM Plex Sans"/>
              <a:ea typeface="IBM Plex Sans"/>
              <a:cs typeface="IBM Plex Sans"/>
              <a:sym typeface="IBM Plex Sans"/>
            </a:endParaRPr>
          </a:p>
          <a:p>
            <a:pPr>
              <a:lnSpc>
                <a:spcPts val="4199"/>
              </a:lnSpc>
              <a:spcBef>
                <a:spcPct val="0"/>
              </a:spcBef>
            </a:pPr>
            <a:r>
              <a:rPr lang="en-US" sz="2999" b="1" dirty="0">
                <a:solidFill>
                  <a:srgbClr val="000000"/>
                </a:solidFill>
                <a:latin typeface="IBM Plex Sans"/>
                <a:ea typeface="IBM Plex Sans"/>
                <a:cs typeface="IBM Plex Sans"/>
                <a:sym typeface="IBM Plex Sans"/>
              </a:rPr>
              <a:t>Why is it important?</a:t>
            </a:r>
          </a:p>
          <a:p>
            <a:pPr>
              <a:lnSpc>
                <a:spcPts val="4199"/>
              </a:lnSpc>
              <a:spcBef>
                <a:spcPct val="0"/>
              </a:spcBef>
            </a:pPr>
            <a:r>
              <a:rPr lang="en-US" sz="2999" dirty="0">
                <a:solidFill>
                  <a:srgbClr val="000000"/>
                </a:solidFill>
                <a:latin typeface="IBM Plex Sans"/>
                <a:ea typeface="IBM Plex Sans"/>
                <a:cs typeface="IBM Plex Sans"/>
                <a:sym typeface="IBM Plex Sans"/>
              </a:rPr>
              <a:t>When billions of dollars are at stake, trust is not enough. Because classical computing is "deterministic" (meaning the output is 100% predictable if you know the starting formula), systems are exposed to the "Insider Threat." For example, lottery security director Eddie Tipton secretly injected code into a PRNG to predict winning numbers, stealing millions. In the crypto space, weak randomness has led to heavily exploited wallets. If a vendor or insider can rig a draw and make it look perfectly normal, the entire foundation of digital fairness is compromised.</a:t>
            </a:r>
          </a:p>
        </p:txBody>
      </p:sp>
      <p:sp>
        <p:nvSpPr>
          <p:cNvPr id="24" name="Freeform 24"/>
          <p:cNvSpPr/>
          <p:nvPr/>
        </p:nvSpPr>
        <p:spPr>
          <a:xfrm>
            <a:off x="264376" y="407706"/>
            <a:ext cx="3092172" cy="1030724"/>
          </a:xfrm>
          <a:custGeom>
            <a:avLst/>
            <a:gdLst/>
            <a:ahLst/>
            <a:cxnLst/>
            <a:rect l="l" t="t" r="r" b="b"/>
            <a:pathLst>
              <a:path w="3092172" h="1030724">
                <a:moveTo>
                  <a:pt x="0" y="0"/>
                </a:moveTo>
                <a:lnTo>
                  <a:pt x="3092172" y="0"/>
                </a:lnTo>
                <a:lnTo>
                  <a:pt x="3092172" y="1030724"/>
                </a:lnTo>
                <a:lnTo>
                  <a:pt x="0" y="1030724"/>
                </a:lnTo>
                <a:lnTo>
                  <a:pt x="0" y="0"/>
                </a:lnTo>
                <a:close/>
              </a:path>
            </a:pathLst>
          </a:custGeom>
          <a:blipFill>
            <a:blip r:embed="rId6"/>
            <a:stretch>
              <a:fillRect/>
            </a:stretch>
          </a:blipFill>
        </p:spPr>
      </p:sp>
      <p:sp>
        <p:nvSpPr>
          <p:cNvPr id="28" name="TextBox 27">
            <a:extLst>
              <a:ext uri="{FF2B5EF4-FFF2-40B4-BE49-F238E27FC236}">
                <a16:creationId xmlns:a16="http://schemas.microsoft.com/office/drawing/2014/main" id="{E5F67583-C28B-D742-E644-029019A5762C}"/>
              </a:ext>
            </a:extLst>
          </p:cNvPr>
          <p:cNvSpPr txBox="1"/>
          <p:nvPr/>
        </p:nvSpPr>
        <p:spPr>
          <a:xfrm>
            <a:off x="4738131" y="1806385"/>
            <a:ext cx="9942394" cy="553870"/>
          </a:xfrm>
          <a:prstGeom prst="rect">
            <a:avLst/>
          </a:prstGeom>
          <a:noFill/>
        </p:spPr>
        <p:txBody>
          <a:bodyPr wrap="square">
            <a:spAutoFit/>
          </a:bodyPr>
          <a:lstStyle/>
          <a:p>
            <a:pPr algn="just"/>
            <a:r>
              <a:rPr lang="en-US" sz="2999" dirty="0">
                <a:solidFill>
                  <a:srgbClr val="000000"/>
                </a:solidFill>
                <a:latin typeface="IBM Plex Sans"/>
                <a:ea typeface="IBM Plex Sans"/>
                <a:cs typeface="IBM Plex Sans"/>
                <a:sym typeface="IBM Plex Sans"/>
              </a:rPr>
              <a:t>     </a:t>
            </a:r>
            <a:r>
              <a:rPr lang="en-US" sz="2999" b="1" dirty="0">
                <a:solidFill>
                  <a:srgbClr val="000000"/>
                </a:solidFill>
                <a:latin typeface="IBM Plex Sans"/>
                <a:ea typeface="IBM Plex Sans"/>
                <a:cs typeface="IBM Plex Sans"/>
                <a:sym typeface="IBM Plex Sans"/>
              </a:rPr>
              <a:t>The High Cost of Unverifiable Trust</a:t>
            </a:r>
            <a:endParaRPr lang="en-AE"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B48AF7"/>
        </a:solidFill>
        <a:effectLst/>
      </p:bgPr>
    </p:bg>
    <p:spTree>
      <p:nvGrpSpPr>
        <p:cNvPr id="1" name=""/>
        <p:cNvGrpSpPr/>
        <p:nvPr/>
      </p:nvGrpSpPr>
      <p:grpSpPr>
        <a:xfrm>
          <a:off x="0" y="0"/>
          <a:ext cx="0" cy="0"/>
          <a:chOff x="0" y="0"/>
          <a:chExt cx="0" cy="0"/>
        </a:xfrm>
      </p:grpSpPr>
      <p:grpSp>
        <p:nvGrpSpPr>
          <p:cNvPr id="2" name="Group 2"/>
          <p:cNvGrpSpPr/>
          <p:nvPr/>
        </p:nvGrpSpPr>
        <p:grpSpPr>
          <a:xfrm>
            <a:off x="-1597105" y="2516808"/>
            <a:ext cx="2625805" cy="830953"/>
            <a:chOff x="0" y="0"/>
            <a:chExt cx="5816600" cy="1840700"/>
          </a:xfrm>
        </p:grpSpPr>
        <p:sp>
          <p:nvSpPr>
            <p:cNvPr id="3" name="Freeform 3"/>
            <p:cNvSpPr/>
            <p:nvPr/>
          </p:nvSpPr>
          <p:spPr>
            <a:xfrm>
              <a:off x="0" y="0"/>
              <a:ext cx="5816600" cy="1840738"/>
            </a:xfrm>
            <a:custGeom>
              <a:avLst/>
              <a:gdLst/>
              <a:ahLst/>
              <a:cxnLst/>
              <a:rect l="l" t="t" r="r" b="b"/>
              <a:pathLst>
                <a:path w="5816600" h="1840738">
                  <a:moveTo>
                    <a:pt x="0" y="0"/>
                  </a:moveTo>
                  <a:lnTo>
                    <a:pt x="5816600" y="0"/>
                  </a:lnTo>
                  <a:lnTo>
                    <a:pt x="5816600" y="1840738"/>
                  </a:lnTo>
                  <a:lnTo>
                    <a:pt x="0" y="1840738"/>
                  </a:lnTo>
                  <a:lnTo>
                    <a:pt x="0" y="0"/>
                  </a:lnTo>
                  <a:close/>
                </a:path>
              </a:pathLst>
            </a:custGeom>
            <a:blipFill>
              <a:blip r:embed="rId2"/>
              <a:stretch>
                <a:fillRect b="2"/>
              </a:stretch>
            </a:blipFill>
          </p:spPr>
        </p:sp>
      </p:grpSp>
      <p:grpSp>
        <p:nvGrpSpPr>
          <p:cNvPr id="4" name="Group 4"/>
          <p:cNvGrpSpPr/>
          <p:nvPr/>
        </p:nvGrpSpPr>
        <p:grpSpPr>
          <a:xfrm>
            <a:off x="2928206" y="9780631"/>
            <a:ext cx="2625805" cy="830953"/>
            <a:chOff x="0" y="0"/>
            <a:chExt cx="5816600" cy="1840700"/>
          </a:xfrm>
        </p:grpSpPr>
        <p:sp>
          <p:nvSpPr>
            <p:cNvPr id="5" name="Freeform 5"/>
            <p:cNvSpPr/>
            <p:nvPr/>
          </p:nvSpPr>
          <p:spPr>
            <a:xfrm>
              <a:off x="0" y="0"/>
              <a:ext cx="5816600" cy="1840738"/>
            </a:xfrm>
            <a:custGeom>
              <a:avLst/>
              <a:gdLst/>
              <a:ahLst/>
              <a:cxnLst/>
              <a:rect l="l" t="t" r="r" b="b"/>
              <a:pathLst>
                <a:path w="5816600" h="1840738">
                  <a:moveTo>
                    <a:pt x="0" y="0"/>
                  </a:moveTo>
                  <a:lnTo>
                    <a:pt x="5816600" y="0"/>
                  </a:lnTo>
                  <a:lnTo>
                    <a:pt x="5816600" y="1840738"/>
                  </a:lnTo>
                  <a:lnTo>
                    <a:pt x="0" y="1840738"/>
                  </a:lnTo>
                  <a:lnTo>
                    <a:pt x="0" y="0"/>
                  </a:lnTo>
                  <a:close/>
                </a:path>
              </a:pathLst>
            </a:custGeom>
            <a:blipFill>
              <a:blip r:embed="rId2"/>
              <a:stretch>
                <a:fillRect b="2"/>
              </a:stretch>
            </a:blipFill>
          </p:spPr>
        </p:sp>
      </p:grpSp>
      <p:grpSp>
        <p:nvGrpSpPr>
          <p:cNvPr id="6" name="Group 6"/>
          <p:cNvGrpSpPr/>
          <p:nvPr/>
        </p:nvGrpSpPr>
        <p:grpSpPr>
          <a:xfrm>
            <a:off x="13367623" y="9656173"/>
            <a:ext cx="2625805" cy="830953"/>
            <a:chOff x="0" y="0"/>
            <a:chExt cx="5816600" cy="1840700"/>
          </a:xfrm>
        </p:grpSpPr>
        <p:sp>
          <p:nvSpPr>
            <p:cNvPr id="7" name="Freeform 7"/>
            <p:cNvSpPr/>
            <p:nvPr/>
          </p:nvSpPr>
          <p:spPr>
            <a:xfrm>
              <a:off x="0" y="0"/>
              <a:ext cx="5816600" cy="1840738"/>
            </a:xfrm>
            <a:custGeom>
              <a:avLst/>
              <a:gdLst/>
              <a:ahLst/>
              <a:cxnLst/>
              <a:rect l="l" t="t" r="r" b="b"/>
              <a:pathLst>
                <a:path w="5816600" h="1840738">
                  <a:moveTo>
                    <a:pt x="0" y="0"/>
                  </a:moveTo>
                  <a:lnTo>
                    <a:pt x="5816600" y="0"/>
                  </a:lnTo>
                  <a:lnTo>
                    <a:pt x="5816600" y="1840738"/>
                  </a:lnTo>
                  <a:lnTo>
                    <a:pt x="0" y="1840738"/>
                  </a:lnTo>
                  <a:lnTo>
                    <a:pt x="0" y="0"/>
                  </a:lnTo>
                  <a:close/>
                </a:path>
              </a:pathLst>
            </a:custGeom>
            <a:blipFill>
              <a:blip r:embed="rId2"/>
              <a:stretch>
                <a:fillRect b="2"/>
              </a:stretch>
            </a:blipFill>
          </p:spPr>
        </p:sp>
      </p:grpSp>
      <p:grpSp>
        <p:nvGrpSpPr>
          <p:cNvPr id="8" name="Group 8"/>
          <p:cNvGrpSpPr/>
          <p:nvPr/>
        </p:nvGrpSpPr>
        <p:grpSpPr>
          <a:xfrm>
            <a:off x="7990242" y="9984655"/>
            <a:ext cx="173987" cy="173987"/>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7CB5"/>
            </a:solidFill>
          </p:spPr>
        </p:sp>
        <p:sp>
          <p:nvSpPr>
            <p:cNvPr id="10" name="TextBox 10"/>
            <p:cNvSpPr txBox="1"/>
            <p:nvPr/>
          </p:nvSpPr>
          <p:spPr>
            <a:xfrm>
              <a:off x="76200" y="47625"/>
              <a:ext cx="660400" cy="688975"/>
            </a:xfrm>
            <a:prstGeom prst="rect">
              <a:avLst/>
            </a:prstGeom>
          </p:spPr>
          <p:txBody>
            <a:bodyPr lIns="50800" tIns="50800" rIns="50800" bIns="50800" rtlCol="0" anchor="ctr"/>
            <a:lstStyle/>
            <a:p>
              <a:pPr algn="ctr">
                <a:lnSpc>
                  <a:spcPts val="2239"/>
                </a:lnSpc>
              </a:pPr>
              <a:endParaRPr/>
            </a:p>
          </p:txBody>
        </p:sp>
      </p:grpSp>
      <p:grpSp>
        <p:nvGrpSpPr>
          <p:cNvPr id="11" name="Group 11"/>
          <p:cNvGrpSpPr/>
          <p:nvPr/>
        </p:nvGrpSpPr>
        <p:grpSpPr>
          <a:xfrm>
            <a:off x="10353346" y="9948585"/>
            <a:ext cx="173987" cy="173987"/>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7CB5"/>
            </a:solidFill>
          </p:spPr>
        </p:sp>
        <p:sp>
          <p:nvSpPr>
            <p:cNvPr id="13" name="TextBox 13"/>
            <p:cNvSpPr txBox="1"/>
            <p:nvPr/>
          </p:nvSpPr>
          <p:spPr>
            <a:xfrm>
              <a:off x="76200" y="47625"/>
              <a:ext cx="660400" cy="688975"/>
            </a:xfrm>
            <a:prstGeom prst="rect">
              <a:avLst/>
            </a:prstGeom>
          </p:spPr>
          <p:txBody>
            <a:bodyPr lIns="50800" tIns="50800" rIns="50800" bIns="50800" rtlCol="0" anchor="ctr"/>
            <a:lstStyle/>
            <a:p>
              <a:pPr algn="ctr">
                <a:lnSpc>
                  <a:spcPts val="2239"/>
                </a:lnSpc>
              </a:pPr>
              <a:endParaRPr/>
            </a:p>
          </p:txBody>
        </p:sp>
      </p:grpSp>
      <p:grpSp>
        <p:nvGrpSpPr>
          <p:cNvPr id="14" name="Group 14"/>
          <p:cNvGrpSpPr/>
          <p:nvPr/>
        </p:nvGrpSpPr>
        <p:grpSpPr>
          <a:xfrm>
            <a:off x="2602010" y="1817327"/>
            <a:ext cx="11718113" cy="940901"/>
            <a:chOff x="0" y="0"/>
            <a:chExt cx="1056723" cy="169083"/>
          </a:xfrm>
        </p:grpSpPr>
        <p:sp>
          <p:nvSpPr>
            <p:cNvPr id="15" name="Freeform 15"/>
            <p:cNvSpPr/>
            <p:nvPr/>
          </p:nvSpPr>
          <p:spPr>
            <a:xfrm>
              <a:off x="0" y="0"/>
              <a:ext cx="1056723" cy="169083"/>
            </a:xfrm>
            <a:custGeom>
              <a:avLst/>
              <a:gdLst/>
              <a:ahLst/>
              <a:cxnLst/>
              <a:rect l="l" t="t" r="r" b="b"/>
              <a:pathLst>
                <a:path w="1056723" h="169083">
                  <a:moveTo>
                    <a:pt x="84541" y="0"/>
                  </a:moveTo>
                  <a:lnTo>
                    <a:pt x="972181" y="0"/>
                  </a:lnTo>
                  <a:cubicBezTo>
                    <a:pt x="994603" y="0"/>
                    <a:pt x="1016106" y="8907"/>
                    <a:pt x="1031961" y="24762"/>
                  </a:cubicBezTo>
                  <a:cubicBezTo>
                    <a:pt x="1047816" y="40616"/>
                    <a:pt x="1056723" y="62120"/>
                    <a:pt x="1056723" y="84541"/>
                  </a:cubicBezTo>
                  <a:lnTo>
                    <a:pt x="1056723" y="84541"/>
                  </a:lnTo>
                  <a:cubicBezTo>
                    <a:pt x="1056723" y="106963"/>
                    <a:pt x="1047816" y="128467"/>
                    <a:pt x="1031961" y="144321"/>
                  </a:cubicBezTo>
                  <a:cubicBezTo>
                    <a:pt x="1016106" y="160176"/>
                    <a:pt x="994603" y="169083"/>
                    <a:pt x="972181" y="169083"/>
                  </a:cubicBezTo>
                  <a:lnTo>
                    <a:pt x="84541" y="169083"/>
                  </a:lnTo>
                  <a:cubicBezTo>
                    <a:pt x="62120" y="169083"/>
                    <a:pt x="40616" y="160176"/>
                    <a:pt x="24762" y="144321"/>
                  </a:cubicBezTo>
                  <a:cubicBezTo>
                    <a:pt x="8907" y="128467"/>
                    <a:pt x="0" y="106963"/>
                    <a:pt x="0" y="84541"/>
                  </a:cubicBezTo>
                  <a:lnTo>
                    <a:pt x="0" y="84541"/>
                  </a:lnTo>
                  <a:cubicBezTo>
                    <a:pt x="0" y="62120"/>
                    <a:pt x="8907" y="40616"/>
                    <a:pt x="24762" y="24762"/>
                  </a:cubicBezTo>
                  <a:cubicBezTo>
                    <a:pt x="40616" y="8907"/>
                    <a:pt x="62120" y="0"/>
                    <a:pt x="84541" y="0"/>
                  </a:cubicBezTo>
                  <a:close/>
                </a:path>
              </a:pathLst>
            </a:custGeom>
            <a:solidFill>
              <a:srgbClr val="E0E0E0"/>
            </a:solidFill>
          </p:spPr>
          <p:txBody>
            <a:bodyPr/>
            <a:lstStyle/>
            <a:p>
              <a:endParaRPr lang="en-AE" dirty="0"/>
            </a:p>
          </p:txBody>
        </p:sp>
        <p:sp>
          <p:nvSpPr>
            <p:cNvPr id="16" name="TextBox 16"/>
            <p:cNvSpPr txBox="1"/>
            <p:nvPr/>
          </p:nvSpPr>
          <p:spPr>
            <a:xfrm>
              <a:off x="0" y="-28575"/>
              <a:ext cx="1056723" cy="197658"/>
            </a:xfrm>
            <a:prstGeom prst="rect">
              <a:avLst/>
            </a:prstGeom>
          </p:spPr>
          <p:txBody>
            <a:bodyPr lIns="50800" tIns="50800" rIns="50800" bIns="50800" rtlCol="0" anchor="ctr"/>
            <a:lstStyle/>
            <a:p>
              <a:pPr algn="ctr">
                <a:lnSpc>
                  <a:spcPts val="2239"/>
                </a:lnSpc>
              </a:pPr>
              <a:endParaRPr/>
            </a:p>
          </p:txBody>
        </p:sp>
      </p:grpSp>
      <p:sp>
        <p:nvSpPr>
          <p:cNvPr id="17" name="Freeform 17"/>
          <p:cNvSpPr/>
          <p:nvPr/>
        </p:nvSpPr>
        <p:spPr>
          <a:xfrm>
            <a:off x="13002366" y="-47625"/>
            <a:ext cx="5063940" cy="1941386"/>
          </a:xfrm>
          <a:custGeom>
            <a:avLst/>
            <a:gdLst/>
            <a:ahLst/>
            <a:cxnLst/>
            <a:rect l="l" t="t" r="r" b="b"/>
            <a:pathLst>
              <a:path w="5063940" h="1941386">
                <a:moveTo>
                  <a:pt x="0" y="0"/>
                </a:moveTo>
                <a:lnTo>
                  <a:pt x="5063940" y="0"/>
                </a:lnTo>
                <a:lnTo>
                  <a:pt x="5063940" y="1941386"/>
                </a:lnTo>
                <a:lnTo>
                  <a:pt x="0" y="1941386"/>
                </a:lnTo>
                <a:lnTo>
                  <a:pt x="0" y="0"/>
                </a:lnTo>
                <a:close/>
              </a:path>
            </a:pathLst>
          </a:custGeom>
          <a:blipFill>
            <a:blip r:embed="rId3"/>
            <a:stretch>
              <a:fillRect/>
            </a:stretch>
          </a:blipFill>
        </p:spPr>
      </p:sp>
      <p:sp>
        <p:nvSpPr>
          <p:cNvPr id="18" name="TextBox 18"/>
          <p:cNvSpPr txBox="1"/>
          <p:nvPr/>
        </p:nvSpPr>
        <p:spPr>
          <a:xfrm>
            <a:off x="8316142" y="9882546"/>
            <a:ext cx="1743273" cy="264135"/>
          </a:xfrm>
          <a:prstGeom prst="rect">
            <a:avLst/>
          </a:prstGeom>
        </p:spPr>
        <p:txBody>
          <a:bodyPr lIns="0" tIns="0" rIns="0" bIns="0" rtlCol="0" anchor="t">
            <a:spAutoFit/>
          </a:bodyPr>
          <a:lstStyle/>
          <a:p>
            <a:pPr algn="l">
              <a:lnSpc>
                <a:spcPts val="2239"/>
              </a:lnSpc>
            </a:pPr>
            <a:r>
              <a:rPr lang="en-US" sz="1599">
                <a:solidFill>
                  <a:srgbClr val="000000"/>
                </a:solidFill>
                <a:latin typeface="IBM Plex Sans"/>
                <a:ea typeface="IBM Plex Sans"/>
                <a:cs typeface="IBM Plex Sans"/>
                <a:sym typeface="IBM Plex Sans"/>
              </a:rPr>
              <a:t>Q-Hack India 2026</a:t>
            </a:r>
          </a:p>
        </p:txBody>
      </p:sp>
      <p:sp>
        <p:nvSpPr>
          <p:cNvPr id="19" name="Freeform 19"/>
          <p:cNvSpPr/>
          <p:nvPr/>
        </p:nvSpPr>
        <p:spPr>
          <a:xfrm>
            <a:off x="7638528" y="-208256"/>
            <a:ext cx="2134862" cy="2130592"/>
          </a:xfrm>
          <a:custGeom>
            <a:avLst/>
            <a:gdLst/>
            <a:ahLst/>
            <a:cxnLst/>
            <a:rect l="l" t="t" r="r" b="b"/>
            <a:pathLst>
              <a:path w="2134862" h="2130592">
                <a:moveTo>
                  <a:pt x="0" y="0"/>
                </a:moveTo>
                <a:lnTo>
                  <a:pt x="2134862" y="0"/>
                </a:lnTo>
                <a:lnTo>
                  <a:pt x="2134862" y="2130592"/>
                </a:lnTo>
                <a:lnTo>
                  <a:pt x="0" y="2130592"/>
                </a:lnTo>
                <a:lnTo>
                  <a:pt x="0" y="0"/>
                </a:lnTo>
                <a:close/>
              </a:path>
            </a:pathLst>
          </a:custGeom>
          <a:blipFill>
            <a:blip r:embed="rId4"/>
            <a:stretch>
              <a:fillRect/>
            </a:stretch>
          </a:blipFill>
        </p:spPr>
      </p:sp>
      <p:grpSp>
        <p:nvGrpSpPr>
          <p:cNvPr id="20" name="Group 20"/>
          <p:cNvGrpSpPr/>
          <p:nvPr/>
        </p:nvGrpSpPr>
        <p:grpSpPr>
          <a:xfrm>
            <a:off x="16388711" y="8987334"/>
            <a:ext cx="1677594" cy="1065265"/>
            <a:chOff x="0" y="0"/>
            <a:chExt cx="4028567" cy="2558123"/>
          </a:xfrm>
        </p:grpSpPr>
        <p:sp>
          <p:nvSpPr>
            <p:cNvPr id="21" name="Freeform 21"/>
            <p:cNvSpPr/>
            <p:nvPr/>
          </p:nvSpPr>
          <p:spPr>
            <a:xfrm>
              <a:off x="0" y="0"/>
              <a:ext cx="4028567" cy="2558161"/>
            </a:xfrm>
            <a:custGeom>
              <a:avLst/>
              <a:gdLst/>
              <a:ahLst/>
              <a:cxnLst/>
              <a:rect l="l" t="t" r="r" b="b"/>
              <a:pathLst>
                <a:path w="4028567" h="2558161">
                  <a:moveTo>
                    <a:pt x="0" y="0"/>
                  </a:moveTo>
                  <a:lnTo>
                    <a:pt x="4028567" y="0"/>
                  </a:lnTo>
                  <a:lnTo>
                    <a:pt x="4028567" y="2558161"/>
                  </a:lnTo>
                  <a:lnTo>
                    <a:pt x="0" y="2558161"/>
                  </a:lnTo>
                  <a:lnTo>
                    <a:pt x="0" y="0"/>
                  </a:lnTo>
                  <a:close/>
                </a:path>
              </a:pathLst>
            </a:custGeom>
            <a:blipFill>
              <a:blip r:embed="rId5"/>
              <a:stretch>
                <a:fillRect b="1"/>
              </a:stretch>
            </a:blipFill>
          </p:spPr>
        </p:sp>
      </p:grpSp>
      <p:grpSp>
        <p:nvGrpSpPr>
          <p:cNvPr id="22" name="Group 22"/>
          <p:cNvGrpSpPr/>
          <p:nvPr/>
        </p:nvGrpSpPr>
        <p:grpSpPr>
          <a:xfrm>
            <a:off x="16564806" y="3523271"/>
            <a:ext cx="2625805" cy="830953"/>
            <a:chOff x="0" y="0"/>
            <a:chExt cx="5816600" cy="1840700"/>
          </a:xfrm>
        </p:grpSpPr>
        <p:sp>
          <p:nvSpPr>
            <p:cNvPr id="23" name="Freeform 23"/>
            <p:cNvSpPr/>
            <p:nvPr/>
          </p:nvSpPr>
          <p:spPr>
            <a:xfrm>
              <a:off x="0" y="0"/>
              <a:ext cx="5816600" cy="1840738"/>
            </a:xfrm>
            <a:custGeom>
              <a:avLst/>
              <a:gdLst/>
              <a:ahLst/>
              <a:cxnLst/>
              <a:rect l="l" t="t" r="r" b="b"/>
              <a:pathLst>
                <a:path w="5816600" h="1840738">
                  <a:moveTo>
                    <a:pt x="0" y="0"/>
                  </a:moveTo>
                  <a:lnTo>
                    <a:pt x="5816600" y="0"/>
                  </a:lnTo>
                  <a:lnTo>
                    <a:pt x="5816600" y="1840738"/>
                  </a:lnTo>
                  <a:lnTo>
                    <a:pt x="0" y="1840738"/>
                  </a:lnTo>
                  <a:lnTo>
                    <a:pt x="0" y="0"/>
                  </a:lnTo>
                  <a:close/>
                </a:path>
              </a:pathLst>
            </a:custGeom>
            <a:blipFill>
              <a:blip r:embed="rId2"/>
              <a:stretch>
                <a:fillRect b="2"/>
              </a:stretch>
            </a:blipFill>
          </p:spPr>
        </p:sp>
      </p:grpSp>
      <p:sp>
        <p:nvSpPr>
          <p:cNvPr id="24" name="TextBox 24"/>
          <p:cNvSpPr txBox="1"/>
          <p:nvPr/>
        </p:nvSpPr>
        <p:spPr>
          <a:xfrm>
            <a:off x="2133601" y="1937259"/>
            <a:ext cx="11234022" cy="1014508"/>
          </a:xfrm>
          <a:prstGeom prst="rect">
            <a:avLst/>
          </a:prstGeom>
        </p:spPr>
        <p:txBody>
          <a:bodyPr wrap="square" lIns="0" tIns="0" rIns="0" bIns="0" rtlCol="0" anchor="t">
            <a:spAutoFit/>
          </a:bodyPr>
          <a:lstStyle/>
          <a:p>
            <a:pPr algn="ctr">
              <a:lnSpc>
                <a:spcPts val="4059"/>
              </a:lnSpc>
              <a:spcBef>
                <a:spcPct val="0"/>
              </a:spcBef>
            </a:pPr>
            <a:r>
              <a:rPr lang="en-US" sz="2899" dirty="0">
                <a:solidFill>
                  <a:srgbClr val="000000"/>
                </a:solidFill>
                <a:latin typeface="IBM Plex Sans"/>
                <a:ea typeface="IBM Plex Sans"/>
                <a:cs typeface="IBM Plex Sans"/>
                <a:sym typeface="IBM Plex Sans"/>
              </a:rPr>
              <a:t>            </a:t>
            </a:r>
            <a:r>
              <a:rPr lang="en-US" sz="2899" b="1" dirty="0">
                <a:solidFill>
                  <a:srgbClr val="000000"/>
                </a:solidFill>
                <a:latin typeface="IBM Plex Sans"/>
                <a:ea typeface="IBM Plex Sans"/>
                <a:cs typeface="IBM Plex Sans"/>
                <a:sym typeface="IBM Plex Sans"/>
              </a:rPr>
              <a:t>Proposed Solution :</a:t>
            </a:r>
            <a:r>
              <a:rPr lang="en-AE" sz="2800" b="1" dirty="0">
                <a:latin typeface="IBM Plex Sans" panose="020B0503050203000203" pitchFamily="34" charset="0"/>
              </a:rPr>
              <a:t> </a:t>
            </a:r>
            <a:r>
              <a:rPr lang="en-AE" sz="2800" b="1" dirty="0" err="1">
                <a:latin typeface="IBM Plex Sans" panose="020B0503050203000203" pitchFamily="34" charset="0"/>
              </a:rPr>
              <a:t>ProvaFair</a:t>
            </a:r>
            <a:r>
              <a:rPr lang="en-AE" sz="2800" b="1" dirty="0">
                <a:latin typeface="IBM Plex Sans" panose="020B0503050203000203" pitchFamily="34" charset="0"/>
              </a:rPr>
              <a:t> - Randomness You Can Verify</a:t>
            </a:r>
          </a:p>
          <a:p>
            <a:pPr algn="ctr">
              <a:lnSpc>
                <a:spcPts val="4059"/>
              </a:lnSpc>
              <a:spcBef>
                <a:spcPct val="0"/>
              </a:spcBef>
            </a:pPr>
            <a:endParaRPr lang="en-US" sz="2899" dirty="0">
              <a:solidFill>
                <a:srgbClr val="000000"/>
              </a:solidFill>
              <a:latin typeface="IBM Plex Sans"/>
              <a:ea typeface="IBM Plex Sans"/>
              <a:cs typeface="IBM Plex Sans"/>
              <a:sym typeface="IBM Plex Sans"/>
            </a:endParaRPr>
          </a:p>
        </p:txBody>
      </p:sp>
      <p:sp>
        <p:nvSpPr>
          <p:cNvPr id="26" name="Freeform 26"/>
          <p:cNvSpPr/>
          <p:nvPr/>
        </p:nvSpPr>
        <p:spPr>
          <a:xfrm>
            <a:off x="264376" y="407706"/>
            <a:ext cx="3092172" cy="1030724"/>
          </a:xfrm>
          <a:custGeom>
            <a:avLst/>
            <a:gdLst/>
            <a:ahLst/>
            <a:cxnLst/>
            <a:rect l="l" t="t" r="r" b="b"/>
            <a:pathLst>
              <a:path w="3092172" h="1030724">
                <a:moveTo>
                  <a:pt x="0" y="0"/>
                </a:moveTo>
                <a:lnTo>
                  <a:pt x="3092172" y="0"/>
                </a:lnTo>
                <a:lnTo>
                  <a:pt x="3092172" y="1030724"/>
                </a:lnTo>
                <a:lnTo>
                  <a:pt x="0" y="1030724"/>
                </a:lnTo>
                <a:lnTo>
                  <a:pt x="0" y="0"/>
                </a:lnTo>
                <a:close/>
              </a:path>
            </a:pathLst>
          </a:custGeom>
          <a:blipFill>
            <a:blip r:embed="rId6"/>
            <a:stretch>
              <a:fillRect/>
            </a:stretch>
          </a:blipFill>
        </p:spPr>
      </p:sp>
      <p:sp>
        <p:nvSpPr>
          <p:cNvPr id="28" name="TextBox 27">
            <a:extLst>
              <a:ext uri="{FF2B5EF4-FFF2-40B4-BE49-F238E27FC236}">
                <a16:creationId xmlns:a16="http://schemas.microsoft.com/office/drawing/2014/main" id="{6468DB9A-D25B-EC8B-B693-62AFED0228DD}"/>
              </a:ext>
            </a:extLst>
          </p:cNvPr>
          <p:cNvSpPr txBox="1"/>
          <p:nvPr/>
        </p:nvSpPr>
        <p:spPr>
          <a:xfrm>
            <a:off x="1028700" y="3357972"/>
            <a:ext cx="15536105" cy="5632311"/>
          </a:xfrm>
          <a:prstGeom prst="rect">
            <a:avLst/>
          </a:prstGeom>
          <a:noFill/>
        </p:spPr>
        <p:txBody>
          <a:bodyPr wrap="square">
            <a:spAutoFit/>
          </a:bodyPr>
          <a:lstStyle/>
          <a:p>
            <a:endParaRPr lang="en-AE" sz="3000" dirty="0">
              <a:latin typeface="IBM Plex Sans" panose="020B0503050203000203" pitchFamily="34" charset="0"/>
            </a:endParaRPr>
          </a:p>
          <a:p>
            <a:r>
              <a:rPr lang="en-AE" sz="3000" dirty="0">
                <a:latin typeface="IBM Plex Sans" panose="020B0503050203000203" pitchFamily="34" charset="0"/>
              </a:rPr>
              <a:t>We built </a:t>
            </a:r>
            <a:r>
              <a:rPr lang="en-AE" sz="3000" b="1" dirty="0" err="1">
                <a:latin typeface="IBM Plex Sans" panose="020B0503050203000203" pitchFamily="34" charset="0"/>
              </a:rPr>
              <a:t>ProvaFair</a:t>
            </a:r>
            <a:r>
              <a:rPr lang="en-AE" sz="3000" dirty="0">
                <a:latin typeface="IBM Plex Sans" panose="020B0503050203000203" pitchFamily="34" charset="0"/>
              </a:rPr>
              <a:t>: A Device-Independent Quantum Random Number Generator (DIQRNG) backed by a tamper-proof public audit ledger. </a:t>
            </a:r>
          </a:p>
          <a:p>
            <a:endParaRPr lang="en-AE" sz="3000" dirty="0">
              <a:latin typeface="IBM Plex Sans" panose="020B0503050203000203" pitchFamily="34" charset="0"/>
            </a:endParaRPr>
          </a:p>
          <a:p>
            <a:r>
              <a:rPr lang="en-AE" sz="3000" b="1" dirty="0">
                <a:latin typeface="IBM Plex Sans" panose="020B0503050203000203" pitchFamily="34" charset="0"/>
              </a:rPr>
              <a:t>How it addresses the problem:</a:t>
            </a:r>
          </a:p>
          <a:p>
            <a:r>
              <a:rPr lang="en-AE" sz="3000" dirty="0">
                <a:latin typeface="IBM Plex Sans" panose="020B0503050203000203" pitchFamily="34" charset="0"/>
              </a:rPr>
              <a:t>Instead of asking users to blindly trust a secret classical formula, </a:t>
            </a:r>
            <a:r>
              <a:rPr lang="en-AE" sz="3000" dirty="0" err="1">
                <a:latin typeface="IBM Plex Sans" panose="020B0503050203000203" pitchFamily="34" charset="0"/>
              </a:rPr>
              <a:t>ProvaFair</a:t>
            </a:r>
            <a:r>
              <a:rPr lang="en-AE" sz="3000" dirty="0">
                <a:latin typeface="IBM Plex Sans" panose="020B0503050203000203" pitchFamily="34" charset="0"/>
              </a:rPr>
              <a:t> transforms randomness into a live, verifiable physics experiment. Before any numbers are drawn, the system runs a CHSH Bell Test. By measuring highly connected "entangled" quantum particles, it calculates a physics score. If the score proves the particles are genuinely unpredictable, it extracts that true quantum entropy to pick the winners and logs a cryptographic receipt to a public database. If the system detects a rigged, classical pattern, the draw is automatically rejected.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0E0E0"/>
        </a:solidFill>
        <a:effectLst/>
      </p:bgPr>
    </p:bg>
    <p:spTree>
      <p:nvGrpSpPr>
        <p:cNvPr id="1" name=""/>
        <p:cNvGrpSpPr/>
        <p:nvPr/>
      </p:nvGrpSpPr>
      <p:grpSpPr>
        <a:xfrm>
          <a:off x="0" y="0"/>
          <a:ext cx="0" cy="0"/>
          <a:chOff x="0" y="0"/>
          <a:chExt cx="0" cy="0"/>
        </a:xfrm>
      </p:grpSpPr>
      <p:grpSp>
        <p:nvGrpSpPr>
          <p:cNvPr id="2" name="Group 2"/>
          <p:cNvGrpSpPr/>
          <p:nvPr/>
        </p:nvGrpSpPr>
        <p:grpSpPr>
          <a:xfrm>
            <a:off x="-1597105" y="2516808"/>
            <a:ext cx="2625805" cy="830953"/>
            <a:chOff x="0" y="0"/>
            <a:chExt cx="5816600" cy="1840700"/>
          </a:xfrm>
        </p:grpSpPr>
        <p:sp>
          <p:nvSpPr>
            <p:cNvPr id="3" name="Freeform 3"/>
            <p:cNvSpPr/>
            <p:nvPr/>
          </p:nvSpPr>
          <p:spPr>
            <a:xfrm>
              <a:off x="0" y="0"/>
              <a:ext cx="5816600" cy="1840738"/>
            </a:xfrm>
            <a:custGeom>
              <a:avLst/>
              <a:gdLst/>
              <a:ahLst/>
              <a:cxnLst/>
              <a:rect l="l" t="t" r="r" b="b"/>
              <a:pathLst>
                <a:path w="5816600" h="1840738">
                  <a:moveTo>
                    <a:pt x="0" y="0"/>
                  </a:moveTo>
                  <a:lnTo>
                    <a:pt x="5816600" y="0"/>
                  </a:lnTo>
                  <a:lnTo>
                    <a:pt x="5816600" y="1840738"/>
                  </a:lnTo>
                  <a:lnTo>
                    <a:pt x="0" y="1840738"/>
                  </a:lnTo>
                  <a:lnTo>
                    <a:pt x="0" y="0"/>
                  </a:lnTo>
                  <a:close/>
                </a:path>
              </a:pathLst>
            </a:custGeom>
            <a:blipFill>
              <a:blip r:embed="rId2"/>
              <a:stretch>
                <a:fillRect b="2"/>
              </a:stretch>
            </a:blipFill>
          </p:spPr>
        </p:sp>
      </p:grpSp>
      <p:grpSp>
        <p:nvGrpSpPr>
          <p:cNvPr id="4" name="Group 4"/>
          <p:cNvGrpSpPr/>
          <p:nvPr/>
        </p:nvGrpSpPr>
        <p:grpSpPr>
          <a:xfrm>
            <a:off x="2928206" y="9780631"/>
            <a:ext cx="2625805" cy="830953"/>
            <a:chOff x="0" y="0"/>
            <a:chExt cx="5816600" cy="1840700"/>
          </a:xfrm>
        </p:grpSpPr>
        <p:sp>
          <p:nvSpPr>
            <p:cNvPr id="5" name="Freeform 5"/>
            <p:cNvSpPr/>
            <p:nvPr/>
          </p:nvSpPr>
          <p:spPr>
            <a:xfrm>
              <a:off x="0" y="0"/>
              <a:ext cx="5816600" cy="1840738"/>
            </a:xfrm>
            <a:custGeom>
              <a:avLst/>
              <a:gdLst/>
              <a:ahLst/>
              <a:cxnLst/>
              <a:rect l="l" t="t" r="r" b="b"/>
              <a:pathLst>
                <a:path w="5816600" h="1840738">
                  <a:moveTo>
                    <a:pt x="0" y="0"/>
                  </a:moveTo>
                  <a:lnTo>
                    <a:pt x="5816600" y="0"/>
                  </a:lnTo>
                  <a:lnTo>
                    <a:pt x="5816600" y="1840738"/>
                  </a:lnTo>
                  <a:lnTo>
                    <a:pt x="0" y="1840738"/>
                  </a:lnTo>
                  <a:lnTo>
                    <a:pt x="0" y="0"/>
                  </a:lnTo>
                  <a:close/>
                </a:path>
              </a:pathLst>
            </a:custGeom>
            <a:blipFill>
              <a:blip r:embed="rId2"/>
              <a:stretch>
                <a:fillRect b="2"/>
              </a:stretch>
            </a:blipFill>
          </p:spPr>
        </p:sp>
      </p:grpSp>
      <p:grpSp>
        <p:nvGrpSpPr>
          <p:cNvPr id="6" name="Group 6"/>
          <p:cNvGrpSpPr/>
          <p:nvPr/>
        </p:nvGrpSpPr>
        <p:grpSpPr>
          <a:xfrm>
            <a:off x="13367623" y="9656173"/>
            <a:ext cx="2625805" cy="830953"/>
            <a:chOff x="0" y="0"/>
            <a:chExt cx="5816600" cy="1840700"/>
          </a:xfrm>
        </p:grpSpPr>
        <p:sp>
          <p:nvSpPr>
            <p:cNvPr id="7" name="Freeform 7"/>
            <p:cNvSpPr/>
            <p:nvPr/>
          </p:nvSpPr>
          <p:spPr>
            <a:xfrm>
              <a:off x="0" y="0"/>
              <a:ext cx="5816600" cy="1840738"/>
            </a:xfrm>
            <a:custGeom>
              <a:avLst/>
              <a:gdLst/>
              <a:ahLst/>
              <a:cxnLst/>
              <a:rect l="l" t="t" r="r" b="b"/>
              <a:pathLst>
                <a:path w="5816600" h="1840738">
                  <a:moveTo>
                    <a:pt x="0" y="0"/>
                  </a:moveTo>
                  <a:lnTo>
                    <a:pt x="5816600" y="0"/>
                  </a:lnTo>
                  <a:lnTo>
                    <a:pt x="5816600" y="1840738"/>
                  </a:lnTo>
                  <a:lnTo>
                    <a:pt x="0" y="1840738"/>
                  </a:lnTo>
                  <a:lnTo>
                    <a:pt x="0" y="0"/>
                  </a:lnTo>
                  <a:close/>
                </a:path>
              </a:pathLst>
            </a:custGeom>
            <a:blipFill>
              <a:blip r:embed="rId2"/>
              <a:stretch>
                <a:fillRect b="2"/>
              </a:stretch>
            </a:blipFill>
          </p:spPr>
        </p:sp>
      </p:grpSp>
      <p:grpSp>
        <p:nvGrpSpPr>
          <p:cNvPr id="8" name="Group 8"/>
          <p:cNvGrpSpPr/>
          <p:nvPr/>
        </p:nvGrpSpPr>
        <p:grpSpPr>
          <a:xfrm>
            <a:off x="7990242" y="9984655"/>
            <a:ext cx="173987" cy="173987"/>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7CB5"/>
            </a:solidFill>
          </p:spPr>
        </p:sp>
        <p:sp>
          <p:nvSpPr>
            <p:cNvPr id="10" name="TextBox 10"/>
            <p:cNvSpPr txBox="1"/>
            <p:nvPr/>
          </p:nvSpPr>
          <p:spPr>
            <a:xfrm>
              <a:off x="76200" y="47625"/>
              <a:ext cx="660400" cy="688975"/>
            </a:xfrm>
            <a:prstGeom prst="rect">
              <a:avLst/>
            </a:prstGeom>
          </p:spPr>
          <p:txBody>
            <a:bodyPr lIns="50800" tIns="50800" rIns="50800" bIns="50800" rtlCol="0" anchor="ctr"/>
            <a:lstStyle/>
            <a:p>
              <a:pPr algn="ctr">
                <a:lnSpc>
                  <a:spcPts val="2239"/>
                </a:lnSpc>
              </a:pPr>
              <a:endParaRPr/>
            </a:p>
          </p:txBody>
        </p:sp>
      </p:grpSp>
      <p:grpSp>
        <p:nvGrpSpPr>
          <p:cNvPr id="11" name="Group 11"/>
          <p:cNvGrpSpPr/>
          <p:nvPr/>
        </p:nvGrpSpPr>
        <p:grpSpPr>
          <a:xfrm>
            <a:off x="10353346" y="9948585"/>
            <a:ext cx="173987" cy="173987"/>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7CB5"/>
            </a:solidFill>
          </p:spPr>
        </p:sp>
        <p:sp>
          <p:nvSpPr>
            <p:cNvPr id="13" name="TextBox 13"/>
            <p:cNvSpPr txBox="1"/>
            <p:nvPr/>
          </p:nvSpPr>
          <p:spPr>
            <a:xfrm>
              <a:off x="76200" y="47625"/>
              <a:ext cx="660400" cy="688975"/>
            </a:xfrm>
            <a:prstGeom prst="rect">
              <a:avLst/>
            </a:prstGeom>
          </p:spPr>
          <p:txBody>
            <a:bodyPr lIns="50800" tIns="50800" rIns="50800" bIns="50800" rtlCol="0" anchor="ctr"/>
            <a:lstStyle/>
            <a:p>
              <a:pPr algn="ctr">
                <a:lnSpc>
                  <a:spcPts val="2239"/>
                </a:lnSpc>
              </a:pPr>
              <a:endParaRPr/>
            </a:p>
          </p:txBody>
        </p:sp>
      </p:grpSp>
      <p:grpSp>
        <p:nvGrpSpPr>
          <p:cNvPr id="14" name="Group 14"/>
          <p:cNvGrpSpPr/>
          <p:nvPr/>
        </p:nvGrpSpPr>
        <p:grpSpPr>
          <a:xfrm>
            <a:off x="6877350" y="1912811"/>
            <a:ext cx="3533419" cy="641986"/>
            <a:chOff x="0" y="0"/>
            <a:chExt cx="930612" cy="169083"/>
          </a:xfrm>
        </p:grpSpPr>
        <p:sp>
          <p:nvSpPr>
            <p:cNvPr id="15" name="Freeform 15"/>
            <p:cNvSpPr/>
            <p:nvPr/>
          </p:nvSpPr>
          <p:spPr>
            <a:xfrm>
              <a:off x="0" y="0"/>
              <a:ext cx="930612" cy="169083"/>
            </a:xfrm>
            <a:custGeom>
              <a:avLst/>
              <a:gdLst/>
              <a:ahLst/>
              <a:cxnLst/>
              <a:rect l="l" t="t" r="r" b="b"/>
              <a:pathLst>
                <a:path w="930612" h="169083">
                  <a:moveTo>
                    <a:pt x="84541" y="0"/>
                  </a:moveTo>
                  <a:lnTo>
                    <a:pt x="846071" y="0"/>
                  </a:lnTo>
                  <a:cubicBezTo>
                    <a:pt x="868493" y="0"/>
                    <a:pt x="889996" y="8907"/>
                    <a:pt x="905851" y="24762"/>
                  </a:cubicBezTo>
                  <a:cubicBezTo>
                    <a:pt x="921705" y="40616"/>
                    <a:pt x="930612" y="62120"/>
                    <a:pt x="930612" y="84541"/>
                  </a:cubicBezTo>
                  <a:lnTo>
                    <a:pt x="930612" y="84541"/>
                  </a:lnTo>
                  <a:cubicBezTo>
                    <a:pt x="930612" y="106963"/>
                    <a:pt x="921705" y="128467"/>
                    <a:pt x="905851" y="144321"/>
                  </a:cubicBezTo>
                  <a:cubicBezTo>
                    <a:pt x="889996" y="160176"/>
                    <a:pt x="868493" y="169083"/>
                    <a:pt x="846071" y="169083"/>
                  </a:cubicBezTo>
                  <a:lnTo>
                    <a:pt x="84541" y="169083"/>
                  </a:lnTo>
                  <a:cubicBezTo>
                    <a:pt x="62120" y="169083"/>
                    <a:pt x="40616" y="160176"/>
                    <a:pt x="24762" y="144321"/>
                  </a:cubicBezTo>
                  <a:cubicBezTo>
                    <a:pt x="8907" y="128467"/>
                    <a:pt x="0" y="106963"/>
                    <a:pt x="0" y="84541"/>
                  </a:cubicBezTo>
                  <a:lnTo>
                    <a:pt x="0" y="84541"/>
                  </a:lnTo>
                  <a:cubicBezTo>
                    <a:pt x="0" y="62120"/>
                    <a:pt x="8907" y="40616"/>
                    <a:pt x="24762" y="24762"/>
                  </a:cubicBezTo>
                  <a:cubicBezTo>
                    <a:pt x="40616" y="8907"/>
                    <a:pt x="62120" y="0"/>
                    <a:pt x="84541" y="0"/>
                  </a:cubicBezTo>
                  <a:close/>
                </a:path>
              </a:pathLst>
            </a:custGeom>
            <a:solidFill>
              <a:srgbClr val="FA7CB5"/>
            </a:solidFill>
          </p:spPr>
        </p:sp>
        <p:sp>
          <p:nvSpPr>
            <p:cNvPr id="16" name="TextBox 16"/>
            <p:cNvSpPr txBox="1"/>
            <p:nvPr/>
          </p:nvSpPr>
          <p:spPr>
            <a:xfrm>
              <a:off x="0" y="-28575"/>
              <a:ext cx="930612" cy="197658"/>
            </a:xfrm>
            <a:prstGeom prst="rect">
              <a:avLst/>
            </a:prstGeom>
          </p:spPr>
          <p:txBody>
            <a:bodyPr lIns="50800" tIns="50800" rIns="50800" bIns="50800" rtlCol="0" anchor="ctr"/>
            <a:lstStyle/>
            <a:p>
              <a:pPr algn="ctr">
                <a:lnSpc>
                  <a:spcPts val="2239"/>
                </a:lnSpc>
              </a:pPr>
              <a:endParaRPr/>
            </a:p>
          </p:txBody>
        </p:sp>
      </p:grpSp>
      <p:sp>
        <p:nvSpPr>
          <p:cNvPr id="17" name="Freeform 17"/>
          <p:cNvSpPr/>
          <p:nvPr/>
        </p:nvSpPr>
        <p:spPr>
          <a:xfrm>
            <a:off x="13135716" y="-28575"/>
            <a:ext cx="5063940" cy="1941386"/>
          </a:xfrm>
          <a:custGeom>
            <a:avLst/>
            <a:gdLst/>
            <a:ahLst/>
            <a:cxnLst/>
            <a:rect l="l" t="t" r="r" b="b"/>
            <a:pathLst>
              <a:path w="5063940" h="1941386">
                <a:moveTo>
                  <a:pt x="0" y="0"/>
                </a:moveTo>
                <a:lnTo>
                  <a:pt x="5063940" y="0"/>
                </a:lnTo>
                <a:lnTo>
                  <a:pt x="5063940" y="1941386"/>
                </a:lnTo>
                <a:lnTo>
                  <a:pt x="0" y="1941386"/>
                </a:lnTo>
                <a:lnTo>
                  <a:pt x="0" y="0"/>
                </a:lnTo>
                <a:close/>
              </a:path>
            </a:pathLst>
          </a:custGeom>
          <a:blipFill>
            <a:blip r:embed="rId3"/>
            <a:stretch>
              <a:fillRect/>
            </a:stretch>
          </a:blipFill>
        </p:spPr>
      </p:sp>
      <p:sp>
        <p:nvSpPr>
          <p:cNvPr id="18" name="TextBox 18"/>
          <p:cNvSpPr txBox="1"/>
          <p:nvPr/>
        </p:nvSpPr>
        <p:spPr>
          <a:xfrm>
            <a:off x="8316142" y="9882546"/>
            <a:ext cx="1743273" cy="264135"/>
          </a:xfrm>
          <a:prstGeom prst="rect">
            <a:avLst/>
          </a:prstGeom>
        </p:spPr>
        <p:txBody>
          <a:bodyPr lIns="0" tIns="0" rIns="0" bIns="0" rtlCol="0" anchor="t">
            <a:spAutoFit/>
          </a:bodyPr>
          <a:lstStyle/>
          <a:p>
            <a:pPr algn="l">
              <a:lnSpc>
                <a:spcPts val="2239"/>
              </a:lnSpc>
            </a:pPr>
            <a:r>
              <a:rPr lang="en-US" sz="1599">
                <a:solidFill>
                  <a:srgbClr val="000000"/>
                </a:solidFill>
                <a:latin typeface="IBM Plex Sans"/>
                <a:ea typeface="IBM Plex Sans"/>
                <a:cs typeface="IBM Plex Sans"/>
                <a:sym typeface="IBM Plex Sans"/>
              </a:rPr>
              <a:t>Q-Hack India 2026</a:t>
            </a:r>
          </a:p>
        </p:txBody>
      </p:sp>
      <p:sp>
        <p:nvSpPr>
          <p:cNvPr id="19" name="Freeform 19"/>
          <p:cNvSpPr/>
          <p:nvPr/>
        </p:nvSpPr>
        <p:spPr>
          <a:xfrm>
            <a:off x="7514703" y="-217781"/>
            <a:ext cx="2134862" cy="2130592"/>
          </a:xfrm>
          <a:custGeom>
            <a:avLst/>
            <a:gdLst/>
            <a:ahLst/>
            <a:cxnLst/>
            <a:rect l="l" t="t" r="r" b="b"/>
            <a:pathLst>
              <a:path w="2134862" h="2130592">
                <a:moveTo>
                  <a:pt x="0" y="0"/>
                </a:moveTo>
                <a:lnTo>
                  <a:pt x="2134862" y="0"/>
                </a:lnTo>
                <a:lnTo>
                  <a:pt x="2134862" y="2130592"/>
                </a:lnTo>
                <a:lnTo>
                  <a:pt x="0" y="2130592"/>
                </a:lnTo>
                <a:lnTo>
                  <a:pt x="0" y="0"/>
                </a:lnTo>
                <a:close/>
              </a:path>
            </a:pathLst>
          </a:custGeom>
          <a:blipFill>
            <a:blip r:embed="rId4"/>
            <a:stretch>
              <a:fillRect/>
            </a:stretch>
          </a:blipFill>
        </p:spPr>
      </p:sp>
      <p:grpSp>
        <p:nvGrpSpPr>
          <p:cNvPr id="20" name="Group 20"/>
          <p:cNvGrpSpPr/>
          <p:nvPr/>
        </p:nvGrpSpPr>
        <p:grpSpPr>
          <a:xfrm>
            <a:off x="16525717" y="8546310"/>
            <a:ext cx="1467166" cy="1525339"/>
            <a:chOff x="0" y="0"/>
            <a:chExt cx="3890124" cy="4044366"/>
          </a:xfrm>
        </p:grpSpPr>
        <p:sp>
          <p:nvSpPr>
            <p:cNvPr id="21" name="Freeform 21"/>
            <p:cNvSpPr/>
            <p:nvPr/>
          </p:nvSpPr>
          <p:spPr>
            <a:xfrm>
              <a:off x="0" y="0"/>
              <a:ext cx="3890137" cy="4044315"/>
            </a:xfrm>
            <a:custGeom>
              <a:avLst/>
              <a:gdLst/>
              <a:ahLst/>
              <a:cxnLst/>
              <a:rect l="l" t="t" r="r" b="b"/>
              <a:pathLst>
                <a:path w="3890137" h="4044315">
                  <a:moveTo>
                    <a:pt x="0" y="0"/>
                  </a:moveTo>
                  <a:lnTo>
                    <a:pt x="3890137" y="0"/>
                  </a:lnTo>
                  <a:lnTo>
                    <a:pt x="3890137" y="4044315"/>
                  </a:lnTo>
                  <a:lnTo>
                    <a:pt x="0" y="4044315"/>
                  </a:lnTo>
                  <a:lnTo>
                    <a:pt x="0" y="0"/>
                  </a:lnTo>
                  <a:close/>
                </a:path>
              </a:pathLst>
            </a:custGeom>
            <a:blipFill>
              <a:blip r:embed="rId5"/>
              <a:stretch>
                <a:fillRect b="-1"/>
              </a:stretch>
            </a:blipFill>
          </p:spPr>
        </p:sp>
      </p:grpSp>
      <p:sp>
        <p:nvSpPr>
          <p:cNvPr id="22" name="TextBox 22"/>
          <p:cNvSpPr txBox="1"/>
          <p:nvPr/>
        </p:nvSpPr>
        <p:spPr>
          <a:xfrm>
            <a:off x="7514703" y="1963294"/>
            <a:ext cx="2467497" cy="453329"/>
          </a:xfrm>
          <a:prstGeom prst="rect">
            <a:avLst/>
          </a:prstGeom>
        </p:spPr>
        <p:txBody>
          <a:bodyPr wrap="square" lIns="0" tIns="0" rIns="0" bIns="0" rtlCol="0" anchor="t">
            <a:spAutoFit/>
          </a:bodyPr>
          <a:lstStyle/>
          <a:p>
            <a:pPr algn="ctr">
              <a:lnSpc>
                <a:spcPts val="3779"/>
              </a:lnSpc>
              <a:spcBef>
                <a:spcPct val="0"/>
              </a:spcBef>
            </a:pPr>
            <a:r>
              <a:rPr lang="en-US" sz="2699" b="1" dirty="0">
                <a:solidFill>
                  <a:srgbClr val="000000"/>
                </a:solidFill>
                <a:latin typeface="IBM Plex Sans"/>
                <a:ea typeface="IBM Plex Sans"/>
                <a:cs typeface="IBM Plex Sans"/>
                <a:sym typeface="IBM Plex Sans"/>
              </a:rPr>
              <a:t>Why Quantum?</a:t>
            </a:r>
          </a:p>
        </p:txBody>
      </p:sp>
      <p:sp>
        <p:nvSpPr>
          <p:cNvPr id="23" name="TextBox 23"/>
          <p:cNvSpPr txBox="1"/>
          <p:nvPr/>
        </p:nvSpPr>
        <p:spPr>
          <a:xfrm>
            <a:off x="552976" y="3261658"/>
            <a:ext cx="16058316" cy="6155531"/>
          </a:xfrm>
          <a:prstGeom prst="rect">
            <a:avLst/>
          </a:prstGeom>
        </p:spPr>
        <p:txBody>
          <a:bodyPr lIns="0" tIns="0" rIns="0" bIns="0" rtlCol="0" anchor="t">
            <a:spAutoFit/>
          </a:bodyPr>
          <a:lstStyle/>
          <a:p>
            <a:pPr algn="ctr">
              <a:lnSpc>
                <a:spcPts val="3219"/>
              </a:lnSpc>
              <a:spcBef>
                <a:spcPct val="0"/>
              </a:spcBef>
            </a:pPr>
            <a:r>
              <a:rPr lang="en-US" sz="3000" dirty="0">
                <a:solidFill>
                  <a:srgbClr val="000000"/>
                </a:solidFill>
                <a:latin typeface="IBM Plex Sans"/>
                <a:ea typeface="IBM Plex Sans"/>
                <a:cs typeface="IBM Plex Sans"/>
                <a:sym typeface="IBM Plex Sans"/>
              </a:rPr>
              <a:t> </a:t>
            </a:r>
            <a:r>
              <a:rPr lang="en-US" sz="3000" b="1" dirty="0">
                <a:solidFill>
                  <a:srgbClr val="000000"/>
                </a:solidFill>
                <a:latin typeface="IBM Plex Sans"/>
                <a:ea typeface="IBM Plex Sans"/>
                <a:cs typeface="IBM Plex Sans"/>
                <a:sym typeface="IBM Plex Sans"/>
              </a:rPr>
              <a:t>The Mathematical Proof of True Randomness</a:t>
            </a:r>
          </a:p>
          <a:p>
            <a:pPr algn="ctr">
              <a:lnSpc>
                <a:spcPts val="3219"/>
              </a:lnSpc>
              <a:spcBef>
                <a:spcPct val="0"/>
              </a:spcBef>
            </a:pPr>
            <a:endParaRPr lang="en-US" sz="3000" dirty="0">
              <a:solidFill>
                <a:srgbClr val="000000"/>
              </a:solidFill>
              <a:latin typeface="IBM Plex Sans"/>
              <a:ea typeface="IBM Plex Sans"/>
              <a:cs typeface="IBM Plex Sans"/>
              <a:sym typeface="IBM Plex Sans"/>
            </a:endParaRPr>
          </a:p>
          <a:p>
            <a:pPr>
              <a:lnSpc>
                <a:spcPts val="3219"/>
              </a:lnSpc>
              <a:spcBef>
                <a:spcPct val="0"/>
              </a:spcBef>
            </a:pPr>
            <a:r>
              <a:rPr lang="en-US" sz="3000" b="1" dirty="0">
                <a:solidFill>
                  <a:srgbClr val="000000"/>
                </a:solidFill>
                <a:latin typeface="IBM Plex Sans"/>
                <a:ea typeface="IBM Plex Sans"/>
                <a:cs typeface="IBM Plex Sans"/>
                <a:sym typeface="IBM Plex Sans"/>
              </a:rPr>
              <a:t>Why does quantum computing make sense here?</a:t>
            </a:r>
          </a:p>
          <a:p>
            <a:pPr>
              <a:lnSpc>
                <a:spcPts val="3219"/>
              </a:lnSpc>
              <a:spcBef>
                <a:spcPct val="0"/>
              </a:spcBef>
            </a:pPr>
            <a:r>
              <a:rPr lang="en-US" sz="3000" dirty="0">
                <a:solidFill>
                  <a:srgbClr val="000000"/>
                </a:solidFill>
                <a:latin typeface="IBM Plex Sans"/>
                <a:ea typeface="IBM Plex Sans"/>
                <a:cs typeface="IBM Plex Sans"/>
                <a:sym typeface="IBM Plex Sans"/>
              </a:rPr>
              <a:t>Classical computers are fundamentally incapable of true randomness; they require pre-programmed instructions. Quantum mechanics, however, contains inherent, physical unpredictability at the subatomic level, acting as the perfect enabler for our solution.</a:t>
            </a:r>
          </a:p>
          <a:p>
            <a:pPr>
              <a:lnSpc>
                <a:spcPts val="3219"/>
              </a:lnSpc>
              <a:spcBef>
                <a:spcPct val="0"/>
              </a:spcBef>
            </a:pPr>
            <a:endParaRPr lang="en-US" sz="3000" dirty="0">
              <a:solidFill>
                <a:srgbClr val="000000"/>
              </a:solidFill>
              <a:latin typeface="IBM Plex Sans"/>
              <a:ea typeface="IBM Plex Sans"/>
              <a:cs typeface="IBM Plex Sans"/>
              <a:sym typeface="IBM Plex Sans"/>
            </a:endParaRPr>
          </a:p>
          <a:p>
            <a:pPr>
              <a:lnSpc>
                <a:spcPts val="3219"/>
              </a:lnSpc>
              <a:spcBef>
                <a:spcPct val="0"/>
              </a:spcBef>
            </a:pPr>
            <a:r>
              <a:rPr lang="en-US" sz="3000" b="1" dirty="0">
                <a:solidFill>
                  <a:srgbClr val="000000"/>
                </a:solidFill>
                <a:latin typeface="IBM Plex Sans"/>
                <a:ea typeface="IBM Plex Sans"/>
                <a:cs typeface="IBM Plex Sans"/>
                <a:sym typeface="IBM Plex Sans"/>
              </a:rPr>
              <a:t>How it acts as a meaningful enabler:</a:t>
            </a:r>
          </a:p>
          <a:p>
            <a:pPr>
              <a:lnSpc>
                <a:spcPts val="3219"/>
              </a:lnSpc>
              <a:spcBef>
                <a:spcPct val="0"/>
              </a:spcBef>
            </a:pPr>
            <a:r>
              <a:rPr lang="en-US" sz="3000" dirty="0">
                <a:solidFill>
                  <a:srgbClr val="000000"/>
                </a:solidFill>
                <a:latin typeface="IBM Plex Sans"/>
                <a:ea typeface="IBM Plex Sans"/>
                <a:cs typeface="IBM Plex Sans"/>
                <a:sym typeface="IBM Plex Sans"/>
              </a:rPr>
              <a:t>We utilize the CHSH Bell Test to measure a pair of linked quantum particles (Quantum Entanglement). According to the laws of physics, a classical, pre-programmed system (using "Local Hidden Variables") can never achieve a CHSH score higher than 2.0. However, true quantum entanglement violates this limit, reaching up to roughly 2.82 (</a:t>
            </a:r>
            <a:r>
              <a:rPr lang="en-US" sz="3000" dirty="0" err="1">
                <a:solidFill>
                  <a:srgbClr val="000000"/>
                </a:solidFill>
                <a:latin typeface="IBM Plex Sans"/>
                <a:ea typeface="IBM Plex Sans"/>
                <a:cs typeface="IBM Plex Sans"/>
                <a:sym typeface="IBM Plex Sans"/>
              </a:rPr>
              <a:t>Tsirelson's</a:t>
            </a:r>
            <a:r>
              <a:rPr lang="en-US" sz="3000" dirty="0">
                <a:solidFill>
                  <a:srgbClr val="000000"/>
                </a:solidFill>
                <a:latin typeface="IBM Plex Sans"/>
                <a:ea typeface="IBM Plex Sans"/>
                <a:cs typeface="IBM Plex Sans"/>
                <a:sym typeface="IBM Plex Sans"/>
              </a:rPr>
              <a:t> bound). By demanding a score strictly greater than 2.0 before releasing any numbers, quantum technology provides absolute, mathematical proof that the draw is completely spontaneous and not rigged by a hidden seed.</a:t>
            </a:r>
          </a:p>
        </p:txBody>
      </p:sp>
      <p:sp>
        <p:nvSpPr>
          <p:cNvPr id="24" name="Freeform 24"/>
          <p:cNvSpPr/>
          <p:nvPr/>
        </p:nvSpPr>
        <p:spPr>
          <a:xfrm>
            <a:off x="264376" y="407706"/>
            <a:ext cx="3092172" cy="1030724"/>
          </a:xfrm>
          <a:custGeom>
            <a:avLst/>
            <a:gdLst/>
            <a:ahLst/>
            <a:cxnLst/>
            <a:rect l="l" t="t" r="r" b="b"/>
            <a:pathLst>
              <a:path w="3092172" h="1030724">
                <a:moveTo>
                  <a:pt x="0" y="0"/>
                </a:moveTo>
                <a:lnTo>
                  <a:pt x="3092172" y="0"/>
                </a:lnTo>
                <a:lnTo>
                  <a:pt x="3092172" y="1030724"/>
                </a:lnTo>
                <a:lnTo>
                  <a:pt x="0" y="1030724"/>
                </a:lnTo>
                <a:lnTo>
                  <a:pt x="0" y="0"/>
                </a:lnTo>
                <a:close/>
              </a:path>
            </a:pathLst>
          </a:custGeom>
          <a:blipFill>
            <a:blip r:embed="rId6"/>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0E0E0"/>
        </a:solidFill>
        <a:effectLst/>
      </p:bgPr>
    </p:bg>
    <p:spTree>
      <p:nvGrpSpPr>
        <p:cNvPr id="1" name="">
          <a:extLst>
            <a:ext uri="{FF2B5EF4-FFF2-40B4-BE49-F238E27FC236}">
              <a16:creationId xmlns:a16="http://schemas.microsoft.com/office/drawing/2014/main" id="{BE447137-CB7E-D4B1-E733-B54EBCA356D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E8707D0-8F64-16E8-0AA0-17B752695FB3}"/>
              </a:ext>
            </a:extLst>
          </p:cNvPr>
          <p:cNvGrpSpPr/>
          <p:nvPr/>
        </p:nvGrpSpPr>
        <p:grpSpPr>
          <a:xfrm>
            <a:off x="-1597105" y="2516808"/>
            <a:ext cx="2625805" cy="830953"/>
            <a:chOff x="0" y="0"/>
            <a:chExt cx="5816600" cy="1840700"/>
          </a:xfrm>
        </p:grpSpPr>
        <p:sp>
          <p:nvSpPr>
            <p:cNvPr id="3" name="Freeform 3">
              <a:extLst>
                <a:ext uri="{FF2B5EF4-FFF2-40B4-BE49-F238E27FC236}">
                  <a16:creationId xmlns:a16="http://schemas.microsoft.com/office/drawing/2014/main" id="{15F006A6-881A-15F3-37D4-84C1C858F656}"/>
                </a:ext>
              </a:extLst>
            </p:cNvPr>
            <p:cNvSpPr/>
            <p:nvPr/>
          </p:nvSpPr>
          <p:spPr>
            <a:xfrm>
              <a:off x="0" y="0"/>
              <a:ext cx="5816600" cy="1840738"/>
            </a:xfrm>
            <a:custGeom>
              <a:avLst/>
              <a:gdLst/>
              <a:ahLst/>
              <a:cxnLst/>
              <a:rect l="l" t="t" r="r" b="b"/>
              <a:pathLst>
                <a:path w="5816600" h="1840738">
                  <a:moveTo>
                    <a:pt x="0" y="0"/>
                  </a:moveTo>
                  <a:lnTo>
                    <a:pt x="5816600" y="0"/>
                  </a:lnTo>
                  <a:lnTo>
                    <a:pt x="5816600" y="1840738"/>
                  </a:lnTo>
                  <a:lnTo>
                    <a:pt x="0" y="1840738"/>
                  </a:lnTo>
                  <a:lnTo>
                    <a:pt x="0" y="0"/>
                  </a:lnTo>
                  <a:close/>
                </a:path>
              </a:pathLst>
            </a:custGeom>
            <a:blipFill>
              <a:blip r:embed="rId2"/>
              <a:stretch>
                <a:fillRect b="2"/>
              </a:stretch>
            </a:blipFill>
          </p:spPr>
        </p:sp>
      </p:grpSp>
      <p:grpSp>
        <p:nvGrpSpPr>
          <p:cNvPr id="4" name="Group 4">
            <a:extLst>
              <a:ext uri="{FF2B5EF4-FFF2-40B4-BE49-F238E27FC236}">
                <a16:creationId xmlns:a16="http://schemas.microsoft.com/office/drawing/2014/main" id="{96B0C809-0CE1-C5C3-A767-22E4EC58C027}"/>
              </a:ext>
            </a:extLst>
          </p:cNvPr>
          <p:cNvGrpSpPr/>
          <p:nvPr/>
        </p:nvGrpSpPr>
        <p:grpSpPr>
          <a:xfrm>
            <a:off x="2928206" y="9780631"/>
            <a:ext cx="2625805" cy="830953"/>
            <a:chOff x="0" y="0"/>
            <a:chExt cx="5816600" cy="1840700"/>
          </a:xfrm>
        </p:grpSpPr>
        <p:sp>
          <p:nvSpPr>
            <p:cNvPr id="5" name="Freeform 5">
              <a:extLst>
                <a:ext uri="{FF2B5EF4-FFF2-40B4-BE49-F238E27FC236}">
                  <a16:creationId xmlns:a16="http://schemas.microsoft.com/office/drawing/2014/main" id="{904D9BD5-7785-CF1E-A1A4-A135780FEDED}"/>
                </a:ext>
              </a:extLst>
            </p:cNvPr>
            <p:cNvSpPr/>
            <p:nvPr/>
          </p:nvSpPr>
          <p:spPr>
            <a:xfrm>
              <a:off x="0" y="0"/>
              <a:ext cx="5816600" cy="1840738"/>
            </a:xfrm>
            <a:custGeom>
              <a:avLst/>
              <a:gdLst/>
              <a:ahLst/>
              <a:cxnLst/>
              <a:rect l="l" t="t" r="r" b="b"/>
              <a:pathLst>
                <a:path w="5816600" h="1840738">
                  <a:moveTo>
                    <a:pt x="0" y="0"/>
                  </a:moveTo>
                  <a:lnTo>
                    <a:pt x="5816600" y="0"/>
                  </a:lnTo>
                  <a:lnTo>
                    <a:pt x="5816600" y="1840738"/>
                  </a:lnTo>
                  <a:lnTo>
                    <a:pt x="0" y="1840738"/>
                  </a:lnTo>
                  <a:lnTo>
                    <a:pt x="0" y="0"/>
                  </a:lnTo>
                  <a:close/>
                </a:path>
              </a:pathLst>
            </a:custGeom>
            <a:blipFill>
              <a:blip r:embed="rId2"/>
              <a:stretch>
                <a:fillRect b="2"/>
              </a:stretch>
            </a:blipFill>
          </p:spPr>
        </p:sp>
      </p:grpSp>
      <p:grpSp>
        <p:nvGrpSpPr>
          <p:cNvPr id="6" name="Group 6">
            <a:extLst>
              <a:ext uri="{FF2B5EF4-FFF2-40B4-BE49-F238E27FC236}">
                <a16:creationId xmlns:a16="http://schemas.microsoft.com/office/drawing/2014/main" id="{043DCB86-292F-6FF1-CDB8-B7AB55292658}"/>
              </a:ext>
            </a:extLst>
          </p:cNvPr>
          <p:cNvGrpSpPr/>
          <p:nvPr/>
        </p:nvGrpSpPr>
        <p:grpSpPr>
          <a:xfrm>
            <a:off x="13367623" y="9656173"/>
            <a:ext cx="2625805" cy="830953"/>
            <a:chOff x="0" y="0"/>
            <a:chExt cx="5816600" cy="1840700"/>
          </a:xfrm>
        </p:grpSpPr>
        <p:sp>
          <p:nvSpPr>
            <p:cNvPr id="7" name="Freeform 7">
              <a:extLst>
                <a:ext uri="{FF2B5EF4-FFF2-40B4-BE49-F238E27FC236}">
                  <a16:creationId xmlns:a16="http://schemas.microsoft.com/office/drawing/2014/main" id="{E2E90B5C-5A8A-442E-88B4-E1374C06E5D3}"/>
                </a:ext>
              </a:extLst>
            </p:cNvPr>
            <p:cNvSpPr/>
            <p:nvPr/>
          </p:nvSpPr>
          <p:spPr>
            <a:xfrm>
              <a:off x="0" y="0"/>
              <a:ext cx="5816600" cy="1840738"/>
            </a:xfrm>
            <a:custGeom>
              <a:avLst/>
              <a:gdLst/>
              <a:ahLst/>
              <a:cxnLst/>
              <a:rect l="l" t="t" r="r" b="b"/>
              <a:pathLst>
                <a:path w="5816600" h="1840738">
                  <a:moveTo>
                    <a:pt x="0" y="0"/>
                  </a:moveTo>
                  <a:lnTo>
                    <a:pt x="5816600" y="0"/>
                  </a:lnTo>
                  <a:lnTo>
                    <a:pt x="5816600" y="1840738"/>
                  </a:lnTo>
                  <a:lnTo>
                    <a:pt x="0" y="1840738"/>
                  </a:lnTo>
                  <a:lnTo>
                    <a:pt x="0" y="0"/>
                  </a:lnTo>
                  <a:close/>
                </a:path>
              </a:pathLst>
            </a:custGeom>
            <a:blipFill>
              <a:blip r:embed="rId2"/>
              <a:stretch>
                <a:fillRect b="2"/>
              </a:stretch>
            </a:blipFill>
          </p:spPr>
        </p:sp>
      </p:grpSp>
      <p:grpSp>
        <p:nvGrpSpPr>
          <p:cNvPr id="8" name="Group 8">
            <a:extLst>
              <a:ext uri="{FF2B5EF4-FFF2-40B4-BE49-F238E27FC236}">
                <a16:creationId xmlns:a16="http://schemas.microsoft.com/office/drawing/2014/main" id="{4CA22CB3-B6AA-6594-B9B3-07E131DAEFAD}"/>
              </a:ext>
            </a:extLst>
          </p:cNvPr>
          <p:cNvGrpSpPr/>
          <p:nvPr/>
        </p:nvGrpSpPr>
        <p:grpSpPr>
          <a:xfrm>
            <a:off x="7990242" y="9984655"/>
            <a:ext cx="173987" cy="173987"/>
            <a:chOff x="0" y="0"/>
            <a:chExt cx="812800" cy="812800"/>
          </a:xfrm>
        </p:grpSpPr>
        <p:sp>
          <p:nvSpPr>
            <p:cNvPr id="9" name="Freeform 9">
              <a:extLst>
                <a:ext uri="{FF2B5EF4-FFF2-40B4-BE49-F238E27FC236}">
                  <a16:creationId xmlns:a16="http://schemas.microsoft.com/office/drawing/2014/main" id="{8FBDB605-31CF-C233-C061-070F9AE073D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7CB5"/>
            </a:solidFill>
          </p:spPr>
        </p:sp>
        <p:sp>
          <p:nvSpPr>
            <p:cNvPr id="10" name="TextBox 10">
              <a:extLst>
                <a:ext uri="{FF2B5EF4-FFF2-40B4-BE49-F238E27FC236}">
                  <a16:creationId xmlns:a16="http://schemas.microsoft.com/office/drawing/2014/main" id="{DDFD6CFB-2530-4B2A-1269-2649FE29E31D}"/>
                </a:ext>
              </a:extLst>
            </p:cNvPr>
            <p:cNvSpPr txBox="1"/>
            <p:nvPr/>
          </p:nvSpPr>
          <p:spPr>
            <a:xfrm>
              <a:off x="76200" y="47625"/>
              <a:ext cx="660400" cy="688975"/>
            </a:xfrm>
            <a:prstGeom prst="rect">
              <a:avLst/>
            </a:prstGeom>
          </p:spPr>
          <p:txBody>
            <a:bodyPr lIns="50800" tIns="50800" rIns="50800" bIns="50800" rtlCol="0" anchor="ctr"/>
            <a:lstStyle/>
            <a:p>
              <a:pPr algn="ctr">
                <a:lnSpc>
                  <a:spcPts val="2239"/>
                </a:lnSpc>
              </a:pPr>
              <a:endParaRPr/>
            </a:p>
          </p:txBody>
        </p:sp>
      </p:grpSp>
      <p:grpSp>
        <p:nvGrpSpPr>
          <p:cNvPr id="11" name="Group 11">
            <a:extLst>
              <a:ext uri="{FF2B5EF4-FFF2-40B4-BE49-F238E27FC236}">
                <a16:creationId xmlns:a16="http://schemas.microsoft.com/office/drawing/2014/main" id="{92F4CFB2-6607-D784-244F-9995AE80F012}"/>
              </a:ext>
            </a:extLst>
          </p:cNvPr>
          <p:cNvGrpSpPr/>
          <p:nvPr/>
        </p:nvGrpSpPr>
        <p:grpSpPr>
          <a:xfrm>
            <a:off x="10353346" y="9948585"/>
            <a:ext cx="173987" cy="173987"/>
            <a:chOff x="0" y="0"/>
            <a:chExt cx="812800" cy="812800"/>
          </a:xfrm>
        </p:grpSpPr>
        <p:sp>
          <p:nvSpPr>
            <p:cNvPr id="12" name="Freeform 12">
              <a:extLst>
                <a:ext uri="{FF2B5EF4-FFF2-40B4-BE49-F238E27FC236}">
                  <a16:creationId xmlns:a16="http://schemas.microsoft.com/office/drawing/2014/main" id="{96FFAF3E-862D-1AEB-F027-5E0AF02089A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7CB5"/>
            </a:solidFill>
          </p:spPr>
        </p:sp>
        <p:sp>
          <p:nvSpPr>
            <p:cNvPr id="13" name="TextBox 13">
              <a:extLst>
                <a:ext uri="{FF2B5EF4-FFF2-40B4-BE49-F238E27FC236}">
                  <a16:creationId xmlns:a16="http://schemas.microsoft.com/office/drawing/2014/main" id="{FA42A7AF-23C3-1BD6-5849-E09D8726095E}"/>
                </a:ext>
              </a:extLst>
            </p:cNvPr>
            <p:cNvSpPr txBox="1"/>
            <p:nvPr/>
          </p:nvSpPr>
          <p:spPr>
            <a:xfrm>
              <a:off x="76200" y="47625"/>
              <a:ext cx="660400" cy="688975"/>
            </a:xfrm>
            <a:prstGeom prst="rect">
              <a:avLst/>
            </a:prstGeom>
          </p:spPr>
          <p:txBody>
            <a:bodyPr lIns="50800" tIns="50800" rIns="50800" bIns="50800" rtlCol="0" anchor="ctr"/>
            <a:lstStyle/>
            <a:p>
              <a:pPr algn="ctr">
                <a:lnSpc>
                  <a:spcPts val="2239"/>
                </a:lnSpc>
              </a:pPr>
              <a:endParaRPr/>
            </a:p>
          </p:txBody>
        </p:sp>
      </p:grpSp>
      <p:grpSp>
        <p:nvGrpSpPr>
          <p:cNvPr id="14" name="Group 14">
            <a:extLst>
              <a:ext uri="{FF2B5EF4-FFF2-40B4-BE49-F238E27FC236}">
                <a16:creationId xmlns:a16="http://schemas.microsoft.com/office/drawing/2014/main" id="{CB476438-49D1-DA37-045D-1D9A6F5C33AE}"/>
              </a:ext>
            </a:extLst>
          </p:cNvPr>
          <p:cNvGrpSpPr/>
          <p:nvPr/>
        </p:nvGrpSpPr>
        <p:grpSpPr>
          <a:xfrm>
            <a:off x="5797750" y="1893761"/>
            <a:ext cx="5382396" cy="641986"/>
            <a:chOff x="0" y="0"/>
            <a:chExt cx="1417586" cy="169083"/>
          </a:xfrm>
        </p:grpSpPr>
        <p:sp>
          <p:nvSpPr>
            <p:cNvPr id="15" name="Freeform 15">
              <a:extLst>
                <a:ext uri="{FF2B5EF4-FFF2-40B4-BE49-F238E27FC236}">
                  <a16:creationId xmlns:a16="http://schemas.microsoft.com/office/drawing/2014/main" id="{EA64A03F-5727-EF86-2966-9069892E9EEF}"/>
                </a:ext>
              </a:extLst>
            </p:cNvPr>
            <p:cNvSpPr/>
            <p:nvPr/>
          </p:nvSpPr>
          <p:spPr>
            <a:xfrm>
              <a:off x="0" y="0"/>
              <a:ext cx="1417586" cy="169083"/>
            </a:xfrm>
            <a:custGeom>
              <a:avLst/>
              <a:gdLst/>
              <a:ahLst/>
              <a:cxnLst/>
              <a:rect l="l" t="t" r="r" b="b"/>
              <a:pathLst>
                <a:path w="1417586" h="169083">
                  <a:moveTo>
                    <a:pt x="84541" y="0"/>
                  </a:moveTo>
                  <a:lnTo>
                    <a:pt x="1333045" y="0"/>
                  </a:lnTo>
                  <a:cubicBezTo>
                    <a:pt x="1355466" y="0"/>
                    <a:pt x="1376970" y="8907"/>
                    <a:pt x="1392824" y="24762"/>
                  </a:cubicBezTo>
                  <a:cubicBezTo>
                    <a:pt x="1408679" y="40616"/>
                    <a:pt x="1417586" y="62120"/>
                    <a:pt x="1417586" y="84541"/>
                  </a:cubicBezTo>
                  <a:lnTo>
                    <a:pt x="1417586" y="84541"/>
                  </a:lnTo>
                  <a:cubicBezTo>
                    <a:pt x="1417586" y="106963"/>
                    <a:pt x="1408679" y="128467"/>
                    <a:pt x="1392824" y="144321"/>
                  </a:cubicBezTo>
                  <a:cubicBezTo>
                    <a:pt x="1376970" y="160176"/>
                    <a:pt x="1355466" y="169083"/>
                    <a:pt x="1333045" y="169083"/>
                  </a:cubicBezTo>
                  <a:lnTo>
                    <a:pt x="84541" y="169083"/>
                  </a:lnTo>
                  <a:cubicBezTo>
                    <a:pt x="62120" y="169083"/>
                    <a:pt x="40616" y="160176"/>
                    <a:pt x="24762" y="144321"/>
                  </a:cubicBezTo>
                  <a:cubicBezTo>
                    <a:pt x="8907" y="128467"/>
                    <a:pt x="0" y="106963"/>
                    <a:pt x="0" y="84541"/>
                  </a:cubicBezTo>
                  <a:lnTo>
                    <a:pt x="0" y="84541"/>
                  </a:lnTo>
                  <a:cubicBezTo>
                    <a:pt x="0" y="62120"/>
                    <a:pt x="8907" y="40616"/>
                    <a:pt x="24762" y="24762"/>
                  </a:cubicBezTo>
                  <a:cubicBezTo>
                    <a:pt x="40616" y="8907"/>
                    <a:pt x="62120" y="0"/>
                    <a:pt x="84541" y="0"/>
                  </a:cubicBezTo>
                  <a:close/>
                </a:path>
              </a:pathLst>
            </a:custGeom>
            <a:solidFill>
              <a:srgbClr val="FA7CB5"/>
            </a:solidFill>
          </p:spPr>
        </p:sp>
        <p:sp>
          <p:nvSpPr>
            <p:cNvPr id="16" name="TextBox 16">
              <a:extLst>
                <a:ext uri="{FF2B5EF4-FFF2-40B4-BE49-F238E27FC236}">
                  <a16:creationId xmlns:a16="http://schemas.microsoft.com/office/drawing/2014/main" id="{2C8B6F1C-6DE7-D2EC-C006-2C8742F7EA98}"/>
                </a:ext>
              </a:extLst>
            </p:cNvPr>
            <p:cNvSpPr txBox="1"/>
            <p:nvPr/>
          </p:nvSpPr>
          <p:spPr>
            <a:xfrm>
              <a:off x="0" y="-28575"/>
              <a:ext cx="1417586" cy="197658"/>
            </a:xfrm>
            <a:prstGeom prst="rect">
              <a:avLst/>
            </a:prstGeom>
          </p:spPr>
          <p:txBody>
            <a:bodyPr lIns="50800" tIns="50800" rIns="50800" bIns="50800" rtlCol="0" anchor="ctr"/>
            <a:lstStyle/>
            <a:p>
              <a:pPr algn="ctr">
                <a:lnSpc>
                  <a:spcPts val="2239"/>
                </a:lnSpc>
              </a:pPr>
              <a:endParaRPr/>
            </a:p>
          </p:txBody>
        </p:sp>
      </p:grpSp>
      <p:sp>
        <p:nvSpPr>
          <p:cNvPr id="17" name="Freeform 17">
            <a:extLst>
              <a:ext uri="{FF2B5EF4-FFF2-40B4-BE49-F238E27FC236}">
                <a16:creationId xmlns:a16="http://schemas.microsoft.com/office/drawing/2014/main" id="{8235A739-442F-6DD5-7078-32AB7C2F7AFA}"/>
              </a:ext>
            </a:extLst>
          </p:cNvPr>
          <p:cNvSpPr/>
          <p:nvPr/>
        </p:nvSpPr>
        <p:spPr>
          <a:xfrm>
            <a:off x="13002366" y="-47625"/>
            <a:ext cx="5063940" cy="1941386"/>
          </a:xfrm>
          <a:custGeom>
            <a:avLst/>
            <a:gdLst/>
            <a:ahLst/>
            <a:cxnLst/>
            <a:rect l="l" t="t" r="r" b="b"/>
            <a:pathLst>
              <a:path w="5063940" h="1941386">
                <a:moveTo>
                  <a:pt x="0" y="0"/>
                </a:moveTo>
                <a:lnTo>
                  <a:pt x="5063940" y="0"/>
                </a:lnTo>
                <a:lnTo>
                  <a:pt x="5063940" y="1941386"/>
                </a:lnTo>
                <a:lnTo>
                  <a:pt x="0" y="1941386"/>
                </a:lnTo>
                <a:lnTo>
                  <a:pt x="0" y="0"/>
                </a:lnTo>
                <a:close/>
              </a:path>
            </a:pathLst>
          </a:custGeom>
          <a:blipFill>
            <a:blip r:embed="rId3"/>
            <a:stretch>
              <a:fillRect/>
            </a:stretch>
          </a:blipFill>
        </p:spPr>
      </p:sp>
      <p:sp>
        <p:nvSpPr>
          <p:cNvPr id="18" name="TextBox 18">
            <a:extLst>
              <a:ext uri="{FF2B5EF4-FFF2-40B4-BE49-F238E27FC236}">
                <a16:creationId xmlns:a16="http://schemas.microsoft.com/office/drawing/2014/main" id="{F1F7889B-CB02-B489-CB0D-C109E506CD4B}"/>
              </a:ext>
            </a:extLst>
          </p:cNvPr>
          <p:cNvSpPr txBox="1"/>
          <p:nvPr/>
        </p:nvSpPr>
        <p:spPr>
          <a:xfrm>
            <a:off x="8316142" y="9882546"/>
            <a:ext cx="1743273" cy="264135"/>
          </a:xfrm>
          <a:prstGeom prst="rect">
            <a:avLst/>
          </a:prstGeom>
        </p:spPr>
        <p:txBody>
          <a:bodyPr lIns="0" tIns="0" rIns="0" bIns="0" rtlCol="0" anchor="t">
            <a:spAutoFit/>
          </a:bodyPr>
          <a:lstStyle/>
          <a:p>
            <a:pPr algn="l">
              <a:lnSpc>
                <a:spcPts val="2239"/>
              </a:lnSpc>
            </a:pPr>
            <a:r>
              <a:rPr lang="en-US" sz="1599">
                <a:solidFill>
                  <a:srgbClr val="000000"/>
                </a:solidFill>
                <a:latin typeface="IBM Plex Sans"/>
                <a:ea typeface="IBM Plex Sans"/>
                <a:cs typeface="IBM Plex Sans"/>
                <a:sym typeface="IBM Plex Sans"/>
              </a:rPr>
              <a:t>Q-Hack India 2026</a:t>
            </a:r>
          </a:p>
        </p:txBody>
      </p:sp>
      <p:sp>
        <p:nvSpPr>
          <p:cNvPr id="19" name="Freeform 19">
            <a:extLst>
              <a:ext uri="{FF2B5EF4-FFF2-40B4-BE49-F238E27FC236}">
                <a16:creationId xmlns:a16="http://schemas.microsoft.com/office/drawing/2014/main" id="{CE563410-37AD-F13F-23D9-1C7952367902}"/>
              </a:ext>
            </a:extLst>
          </p:cNvPr>
          <p:cNvSpPr/>
          <p:nvPr/>
        </p:nvSpPr>
        <p:spPr>
          <a:xfrm>
            <a:off x="7514703" y="-217781"/>
            <a:ext cx="2134862" cy="2130592"/>
          </a:xfrm>
          <a:custGeom>
            <a:avLst/>
            <a:gdLst/>
            <a:ahLst/>
            <a:cxnLst/>
            <a:rect l="l" t="t" r="r" b="b"/>
            <a:pathLst>
              <a:path w="2134862" h="2130592">
                <a:moveTo>
                  <a:pt x="0" y="0"/>
                </a:moveTo>
                <a:lnTo>
                  <a:pt x="2134862" y="0"/>
                </a:lnTo>
                <a:lnTo>
                  <a:pt x="2134862" y="2130592"/>
                </a:lnTo>
                <a:lnTo>
                  <a:pt x="0" y="2130592"/>
                </a:lnTo>
                <a:lnTo>
                  <a:pt x="0" y="0"/>
                </a:lnTo>
                <a:close/>
              </a:path>
            </a:pathLst>
          </a:custGeom>
          <a:blipFill>
            <a:blip r:embed="rId4"/>
            <a:stretch>
              <a:fillRect/>
            </a:stretch>
          </a:blipFill>
        </p:spPr>
      </p:sp>
      <p:grpSp>
        <p:nvGrpSpPr>
          <p:cNvPr id="20" name="Group 20">
            <a:extLst>
              <a:ext uri="{FF2B5EF4-FFF2-40B4-BE49-F238E27FC236}">
                <a16:creationId xmlns:a16="http://schemas.microsoft.com/office/drawing/2014/main" id="{7A7FE66A-7EE6-5C12-D382-83173CB76B70}"/>
              </a:ext>
            </a:extLst>
          </p:cNvPr>
          <p:cNvGrpSpPr/>
          <p:nvPr/>
        </p:nvGrpSpPr>
        <p:grpSpPr>
          <a:xfrm>
            <a:off x="16388711" y="8987334"/>
            <a:ext cx="1677594" cy="1065265"/>
            <a:chOff x="0" y="0"/>
            <a:chExt cx="4028567" cy="2558123"/>
          </a:xfrm>
        </p:grpSpPr>
        <p:sp>
          <p:nvSpPr>
            <p:cNvPr id="21" name="Freeform 21">
              <a:extLst>
                <a:ext uri="{FF2B5EF4-FFF2-40B4-BE49-F238E27FC236}">
                  <a16:creationId xmlns:a16="http://schemas.microsoft.com/office/drawing/2014/main" id="{3EB80EB9-2DE7-2CF1-4A67-0883617BF25F}"/>
                </a:ext>
              </a:extLst>
            </p:cNvPr>
            <p:cNvSpPr/>
            <p:nvPr/>
          </p:nvSpPr>
          <p:spPr>
            <a:xfrm>
              <a:off x="0" y="0"/>
              <a:ext cx="4028567" cy="2558161"/>
            </a:xfrm>
            <a:custGeom>
              <a:avLst/>
              <a:gdLst/>
              <a:ahLst/>
              <a:cxnLst/>
              <a:rect l="l" t="t" r="r" b="b"/>
              <a:pathLst>
                <a:path w="4028567" h="2558161">
                  <a:moveTo>
                    <a:pt x="0" y="0"/>
                  </a:moveTo>
                  <a:lnTo>
                    <a:pt x="4028567" y="0"/>
                  </a:lnTo>
                  <a:lnTo>
                    <a:pt x="4028567" y="2558161"/>
                  </a:lnTo>
                  <a:lnTo>
                    <a:pt x="0" y="2558161"/>
                  </a:lnTo>
                  <a:lnTo>
                    <a:pt x="0" y="0"/>
                  </a:lnTo>
                  <a:close/>
                </a:path>
              </a:pathLst>
            </a:custGeom>
            <a:blipFill>
              <a:blip r:embed="rId5"/>
              <a:stretch>
                <a:fillRect b="1"/>
              </a:stretch>
            </a:blipFill>
          </p:spPr>
        </p:sp>
      </p:grpSp>
      <p:sp>
        <p:nvSpPr>
          <p:cNvPr id="22" name="TextBox 22">
            <a:extLst>
              <a:ext uri="{FF2B5EF4-FFF2-40B4-BE49-F238E27FC236}">
                <a16:creationId xmlns:a16="http://schemas.microsoft.com/office/drawing/2014/main" id="{1B31ADC8-45F8-DF7F-7CCC-A7E4417316B4}"/>
              </a:ext>
            </a:extLst>
          </p:cNvPr>
          <p:cNvSpPr txBox="1"/>
          <p:nvPr/>
        </p:nvSpPr>
        <p:spPr>
          <a:xfrm>
            <a:off x="6298992" y="1988059"/>
            <a:ext cx="4566285" cy="405766"/>
          </a:xfrm>
          <a:prstGeom prst="rect">
            <a:avLst/>
          </a:prstGeom>
        </p:spPr>
        <p:txBody>
          <a:bodyPr lIns="0" tIns="0" rIns="0" bIns="0" rtlCol="0" anchor="t">
            <a:spAutoFit/>
          </a:bodyPr>
          <a:lstStyle/>
          <a:p>
            <a:pPr algn="ctr">
              <a:lnSpc>
                <a:spcPts val="3359"/>
              </a:lnSpc>
              <a:spcBef>
                <a:spcPct val="0"/>
              </a:spcBef>
            </a:pPr>
            <a:r>
              <a:rPr lang="en-US" sz="2399">
                <a:solidFill>
                  <a:srgbClr val="000000"/>
                </a:solidFill>
                <a:latin typeface="IBM Plex Sans"/>
                <a:ea typeface="IBM Plex Sans"/>
                <a:cs typeface="IBM Plex Sans"/>
                <a:sym typeface="IBM Plex Sans"/>
              </a:rPr>
              <a:t>Implementation and Architecture</a:t>
            </a:r>
          </a:p>
        </p:txBody>
      </p:sp>
      <p:sp>
        <p:nvSpPr>
          <p:cNvPr id="24" name="Freeform 24">
            <a:extLst>
              <a:ext uri="{FF2B5EF4-FFF2-40B4-BE49-F238E27FC236}">
                <a16:creationId xmlns:a16="http://schemas.microsoft.com/office/drawing/2014/main" id="{42FF415D-CA7D-C182-CB69-87B66D4ACF0C}"/>
              </a:ext>
            </a:extLst>
          </p:cNvPr>
          <p:cNvSpPr/>
          <p:nvPr/>
        </p:nvSpPr>
        <p:spPr>
          <a:xfrm>
            <a:off x="264376" y="407706"/>
            <a:ext cx="3092172" cy="1030724"/>
          </a:xfrm>
          <a:custGeom>
            <a:avLst/>
            <a:gdLst/>
            <a:ahLst/>
            <a:cxnLst/>
            <a:rect l="l" t="t" r="r" b="b"/>
            <a:pathLst>
              <a:path w="3092172" h="1030724">
                <a:moveTo>
                  <a:pt x="0" y="0"/>
                </a:moveTo>
                <a:lnTo>
                  <a:pt x="3092172" y="0"/>
                </a:lnTo>
                <a:lnTo>
                  <a:pt x="3092172" y="1030724"/>
                </a:lnTo>
                <a:lnTo>
                  <a:pt x="0" y="1030724"/>
                </a:lnTo>
                <a:lnTo>
                  <a:pt x="0" y="0"/>
                </a:lnTo>
                <a:close/>
              </a:path>
            </a:pathLst>
          </a:custGeom>
          <a:blipFill>
            <a:blip r:embed="rId6"/>
            <a:stretch>
              <a:fillRect/>
            </a:stretch>
          </a:blipFill>
        </p:spPr>
      </p:sp>
      <p:pic>
        <p:nvPicPr>
          <p:cNvPr id="27" name="Picture 26">
            <a:extLst>
              <a:ext uri="{FF2B5EF4-FFF2-40B4-BE49-F238E27FC236}">
                <a16:creationId xmlns:a16="http://schemas.microsoft.com/office/drawing/2014/main" id="{2C236D1E-65BB-AE32-39B4-0ADF347A1FBC}"/>
              </a:ext>
            </a:extLst>
          </p:cNvPr>
          <p:cNvPicPr>
            <a:picLocks noChangeAspect="1"/>
          </p:cNvPicPr>
          <p:nvPr/>
        </p:nvPicPr>
        <p:blipFill>
          <a:blip r:embed="rId7"/>
          <a:stretch>
            <a:fillRect/>
          </a:stretch>
        </p:blipFill>
        <p:spPr>
          <a:xfrm>
            <a:off x="152400" y="2697831"/>
            <a:ext cx="11620500" cy="3847021"/>
          </a:xfrm>
          <a:prstGeom prst="rect">
            <a:avLst/>
          </a:prstGeom>
        </p:spPr>
      </p:pic>
      <p:sp>
        <p:nvSpPr>
          <p:cNvPr id="29" name="TextBox 28">
            <a:extLst>
              <a:ext uri="{FF2B5EF4-FFF2-40B4-BE49-F238E27FC236}">
                <a16:creationId xmlns:a16="http://schemas.microsoft.com/office/drawing/2014/main" id="{E572D631-D115-1633-9B5E-250137FF6E03}"/>
              </a:ext>
            </a:extLst>
          </p:cNvPr>
          <p:cNvSpPr txBox="1"/>
          <p:nvPr/>
        </p:nvSpPr>
        <p:spPr>
          <a:xfrm>
            <a:off x="12275104" y="2393825"/>
            <a:ext cx="5860496" cy="5324535"/>
          </a:xfrm>
          <a:prstGeom prst="rect">
            <a:avLst/>
          </a:prstGeom>
          <a:noFill/>
        </p:spPr>
        <p:txBody>
          <a:bodyPr wrap="square">
            <a:spAutoFit/>
          </a:bodyPr>
          <a:lstStyle/>
          <a:p>
            <a:r>
              <a:rPr lang="en-IN" sz="2000" b="1" dirty="0"/>
              <a:t>Technology Stack:</a:t>
            </a:r>
          </a:p>
          <a:p>
            <a:r>
              <a:rPr lang="en-IN" sz="2000" dirty="0"/>
              <a:t>• UI &amp; Backend: </a:t>
            </a:r>
            <a:r>
              <a:rPr lang="en-IN" sz="2000" dirty="0" err="1"/>
              <a:t>Streamlit</a:t>
            </a:r>
            <a:r>
              <a:rPr lang="en-IN" sz="2000" dirty="0"/>
              <a:t> (Python) &amp; </a:t>
            </a:r>
            <a:r>
              <a:rPr lang="en-IN" sz="2000" dirty="0" err="1"/>
              <a:t>FastAPI</a:t>
            </a:r>
            <a:endParaRPr lang="en-IN" sz="2000" dirty="0"/>
          </a:p>
          <a:p>
            <a:r>
              <a:rPr lang="en-IN" sz="2000" dirty="0"/>
              <a:t>• Quantum Engine: IBM </a:t>
            </a:r>
            <a:r>
              <a:rPr lang="en-IN" sz="2000" dirty="0" err="1"/>
              <a:t>Qiskit</a:t>
            </a:r>
            <a:r>
              <a:rPr lang="en-IN" sz="2000" dirty="0"/>
              <a:t> &amp; </a:t>
            </a:r>
            <a:r>
              <a:rPr lang="en-IN" sz="2000" dirty="0" err="1"/>
              <a:t>AerSimulator</a:t>
            </a:r>
            <a:endParaRPr lang="en-IN" sz="2000" dirty="0"/>
          </a:p>
          <a:p>
            <a:r>
              <a:rPr lang="en-IN" sz="2000" dirty="0"/>
              <a:t>• Security &amp; Database: Python </a:t>
            </a:r>
            <a:r>
              <a:rPr lang="en-IN" sz="2000" dirty="0" err="1"/>
              <a:t>hashlib</a:t>
            </a:r>
            <a:r>
              <a:rPr lang="en-IN" sz="2000" dirty="0"/>
              <a:t> (SHA-256) &amp; SQLite</a:t>
            </a:r>
          </a:p>
          <a:p>
            <a:endParaRPr lang="en-IN" sz="2000" dirty="0"/>
          </a:p>
          <a:p>
            <a:r>
              <a:rPr lang="en-IN" sz="2000" b="1" dirty="0"/>
              <a:t>Classical Components:</a:t>
            </a:r>
          </a:p>
          <a:p>
            <a:r>
              <a:rPr lang="en-IN" sz="2000" dirty="0"/>
              <a:t>• API Gateway: Orchestrates the HTTP requests between the user interface and the quantum/rigged engines.</a:t>
            </a:r>
          </a:p>
          <a:p>
            <a:r>
              <a:rPr lang="en-IN" sz="2000" dirty="0"/>
              <a:t>• PRNG Simulator: A deterministic "rigged" engine used to demonstrate the classical vulnerability (S ≤ 2.0).</a:t>
            </a:r>
          </a:p>
          <a:p>
            <a:r>
              <a:rPr lang="en-IN" sz="2000" dirty="0"/>
              <a:t>• Immutable Ledger: Applies SHA-256 cryptographic hashing to the draw results, committing a permanent, verifiable receipt to the SQLite database.</a:t>
            </a:r>
            <a:endParaRPr lang="en-AE" sz="2000" dirty="0"/>
          </a:p>
          <a:p>
            <a:endParaRPr lang="en-IN" sz="2000" dirty="0"/>
          </a:p>
        </p:txBody>
      </p:sp>
      <p:sp>
        <p:nvSpPr>
          <p:cNvPr id="33" name="TextBox 32">
            <a:extLst>
              <a:ext uri="{FF2B5EF4-FFF2-40B4-BE49-F238E27FC236}">
                <a16:creationId xmlns:a16="http://schemas.microsoft.com/office/drawing/2014/main" id="{1D6243E2-2BCB-7164-6D0C-28AA92AEDA4C}"/>
              </a:ext>
            </a:extLst>
          </p:cNvPr>
          <p:cNvSpPr txBox="1"/>
          <p:nvPr/>
        </p:nvSpPr>
        <p:spPr>
          <a:xfrm>
            <a:off x="9249387" y="7374959"/>
            <a:ext cx="7978121" cy="2308324"/>
          </a:xfrm>
          <a:prstGeom prst="rect">
            <a:avLst/>
          </a:prstGeom>
          <a:noFill/>
        </p:spPr>
        <p:txBody>
          <a:bodyPr wrap="square">
            <a:spAutoFit/>
          </a:bodyPr>
          <a:lstStyle/>
          <a:p>
            <a:r>
              <a:rPr lang="en-AE" sz="2400" b="1" dirty="0"/>
              <a:t>Core Quantum Math (CHSH Verification):</a:t>
            </a:r>
          </a:p>
          <a:p>
            <a:r>
              <a:rPr lang="en-AE" sz="2400" dirty="0"/>
              <a:t>• Entangled State: |Φ⁺⟩ = (|00⟩ + |11⟩) / √2</a:t>
            </a:r>
          </a:p>
          <a:p>
            <a:r>
              <a:rPr lang="en-AE" sz="2400" dirty="0"/>
              <a:t>• CHSH Formula: S = |E(A₀,B₀) - E(A₀,B₁) + E(A₁,B₀) + E(A₁,B₁)|</a:t>
            </a:r>
          </a:p>
          <a:p>
            <a:r>
              <a:rPr lang="en-AE" sz="2400" dirty="0"/>
              <a:t>• Threshold: Classical systems cannot exceed S = 2.0. Our system verifies S &gt; 2.0 (approaching </a:t>
            </a:r>
            <a:r>
              <a:rPr lang="en-AE" sz="2400" dirty="0" err="1"/>
              <a:t>Tsirelson's</a:t>
            </a:r>
            <a:r>
              <a:rPr lang="en-AE" sz="2400" dirty="0"/>
              <a:t> bound of 2.82) to guarantee true quantum entropy.</a:t>
            </a:r>
          </a:p>
        </p:txBody>
      </p:sp>
      <p:sp>
        <p:nvSpPr>
          <p:cNvPr id="35" name="TextBox 34">
            <a:extLst>
              <a:ext uri="{FF2B5EF4-FFF2-40B4-BE49-F238E27FC236}">
                <a16:creationId xmlns:a16="http://schemas.microsoft.com/office/drawing/2014/main" id="{D44FD38A-326F-EB90-14B2-22174F7C22B2}"/>
              </a:ext>
            </a:extLst>
          </p:cNvPr>
          <p:cNvSpPr txBox="1"/>
          <p:nvPr/>
        </p:nvSpPr>
        <p:spPr>
          <a:xfrm>
            <a:off x="433292" y="7005627"/>
            <a:ext cx="7714625" cy="3046988"/>
          </a:xfrm>
          <a:prstGeom prst="rect">
            <a:avLst/>
          </a:prstGeom>
          <a:noFill/>
        </p:spPr>
        <p:txBody>
          <a:bodyPr wrap="square">
            <a:spAutoFit/>
          </a:bodyPr>
          <a:lstStyle/>
          <a:p>
            <a:r>
              <a:rPr lang="en-AE" sz="2400" b="1" dirty="0"/>
              <a:t>Quantum Components: </a:t>
            </a:r>
          </a:p>
          <a:p>
            <a:r>
              <a:rPr lang="en-AE" sz="2400" dirty="0"/>
              <a:t>• Entanglement Generation: Uses Hadamard (H) and Controlled-NOT (CX) gates to create linked Bell states.</a:t>
            </a:r>
          </a:p>
          <a:p>
            <a:r>
              <a:rPr lang="en-AE" sz="2400" dirty="0"/>
              <a:t> • CHSH Evaluator: Measures qubits across multiple angles to verify the S-score &gt; 2.0 limit. </a:t>
            </a:r>
          </a:p>
          <a:p>
            <a:r>
              <a:rPr lang="en-AE" sz="2400" dirty="0"/>
              <a:t>• Entropy Extractor: Converts the raw, unpredictable quantum measurement memory into an unbiased random seed. </a:t>
            </a:r>
          </a:p>
        </p:txBody>
      </p:sp>
    </p:spTree>
    <p:extLst>
      <p:ext uri="{BB962C8B-B14F-4D97-AF65-F5344CB8AC3E}">
        <p14:creationId xmlns:p14="http://schemas.microsoft.com/office/powerpoint/2010/main" val="9060844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0E0E0"/>
        </a:solidFill>
        <a:effectLst/>
      </p:bgPr>
    </p:bg>
    <p:spTree>
      <p:nvGrpSpPr>
        <p:cNvPr id="1" name=""/>
        <p:cNvGrpSpPr/>
        <p:nvPr/>
      </p:nvGrpSpPr>
      <p:grpSpPr>
        <a:xfrm>
          <a:off x="0" y="0"/>
          <a:ext cx="0" cy="0"/>
          <a:chOff x="0" y="0"/>
          <a:chExt cx="0" cy="0"/>
        </a:xfrm>
      </p:grpSpPr>
      <p:grpSp>
        <p:nvGrpSpPr>
          <p:cNvPr id="2" name="Group 2"/>
          <p:cNvGrpSpPr/>
          <p:nvPr/>
        </p:nvGrpSpPr>
        <p:grpSpPr>
          <a:xfrm>
            <a:off x="-1597105" y="2516808"/>
            <a:ext cx="2625805" cy="830953"/>
            <a:chOff x="0" y="0"/>
            <a:chExt cx="5816600" cy="1840700"/>
          </a:xfrm>
        </p:grpSpPr>
        <p:sp>
          <p:nvSpPr>
            <p:cNvPr id="3" name="Freeform 3"/>
            <p:cNvSpPr/>
            <p:nvPr/>
          </p:nvSpPr>
          <p:spPr>
            <a:xfrm>
              <a:off x="0" y="0"/>
              <a:ext cx="5816600" cy="1840738"/>
            </a:xfrm>
            <a:custGeom>
              <a:avLst/>
              <a:gdLst/>
              <a:ahLst/>
              <a:cxnLst/>
              <a:rect l="l" t="t" r="r" b="b"/>
              <a:pathLst>
                <a:path w="5816600" h="1840738">
                  <a:moveTo>
                    <a:pt x="0" y="0"/>
                  </a:moveTo>
                  <a:lnTo>
                    <a:pt x="5816600" y="0"/>
                  </a:lnTo>
                  <a:lnTo>
                    <a:pt x="5816600" y="1840738"/>
                  </a:lnTo>
                  <a:lnTo>
                    <a:pt x="0" y="1840738"/>
                  </a:lnTo>
                  <a:lnTo>
                    <a:pt x="0" y="0"/>
                  </a:lnTo>
                  <a:close/>
                </a:path>
              </a:pathLst>
            </a:custGeom>
            <a:blipFill>
              <a:blip r:embed="rId2"/>
              <a:stretch>
                <a:fillRect b="2"/>
              </a:stretch>
            </a:blipFill>
          </p:spPr>
        </p:sp>
      </p:grpSp>
      <p:grpSp>
        <p:nvGrpSpPr>
          <p:cNvPr id="4" name="Group 4"/>
          <p:cNvGrpSpPr/>
          <p:nvPr/>
        </p:nvGrpSpPr>
        <p:grpSpPr>
          <a:xfrm>
            <a:off x="2928206" y="9780631"/>
            <a:ext cx="2625805" cy="830953"/>
            <a:chOff x="0" y="0"/>
            <a:chExt cx="5816600" cy="1840700"/>
          </a:xfrm>
        </p:grpSpPr>
        <p:sp>
          <p:nvSpPr>
            <p:cNvPr id="5" name="Freeform 5"/>
            <p:cNvSpPr/>
            <p:nvPr/>
          </p:nvSpPr>
          <p:spPr>
            <a:xfrm>
              <a:off x="0" y="0"/>
              <a:ext cx="5816600" cy="1840738"/>
            </a:xfrm>
            <a:custGeom>
              <a:avLst/>
              <a:gdLst/>
              <a:ahLst/>
              <a:cxnLst/>
              <a:rect l="l" t="t" r="r" b="b"/>
              <a:pathLst>
                <a:path w="5816600" h="1840738">
                  <a:moveTo>
                    <a:pt x="0" y="0"/>
                  </a:moveTo>
                  <a:lnTo>
                    <a:pt x="5816600" y="0"/>
                  </a:lnTo>
                  <a:lnTo>
                    <a:pt x="5816600" y="1840738"/>
                  </a:lnTo>
                  <a:lnTo>
                    <a:pt x="0" y="1840738"/>
                  </a:lnTo>
                  <a:lnTo>
                    <a:pt x="0" y="0"/>
                  </a:lnTo>
                  <a:close/>
                </a:path>
              </a:pathLst>
            </a:custGeom>
            <a:blipFill>
              <a:blip r:embed="rId2"/>
              <a:stretch>
                <a:fillRect b="2"/>
              </a:stretch>
            </a:blipFill>
          </p:spPr>
        </p:sp>
      </p:grpSp>
      <p:grpSp>
        <p:nvGrpSpPr>
          <p:cNvPr id="6" name="Group 6"/>
          <p:cNvGrpSpPr/>
          <p:nvPr/>
        </p:nvGrpSpPr>
        <p:grpSpPr>
          <a:xfrm>
            <a:off x="13367623" y="9656173"/>
            <a:ext cx="2625805" cy="830953"/>
            <a:chOff x="0" y="0"/>
            <a:chExt cx="5816600" cy="1840700"/>
          </a:xfrm>
        </p:grpSpPr>
        <p:sp>
          <p:nvSpPr>
            <p:cNvPr id="7" name="Freeform 7"/>
            <p:cNvSpPr/>
            <p:nvPr/>
          </p:nvSpPr>
          <p:spPr>
            <a:xfrm>
              <a:off x="0" y="0"/>
              <a:ext cx="5816600" cy="1840738"/>
            </a:xfrm>
            <a:custGeom>
              <a:avLst/>
              <a:gdLst/>
              <a:ahLst/>
              <a:cxnLst/>
              <a:rect l="l" t="t" r="r" b="b"/>
              <a:pathLst>
                <a:path w="5816600" h="1840738">
                  <a:moveTo>
                    <a:pt x="0" y="0"/>
                  </a:moveTo>
                  <a:lnTo>
                    <a:pt x="5816600" y="0"/>
                  </a:lnTo>
                  <a:lnTo>
                    <a:pt x="5816600" y="1840738"/>
                  </a:lnTo>
                  <a:lnTo>
                    <a:pt x="0" y="1840738"/>
                  </a:lnTo>
                  <a:lnTo>
                    <a:pt x="0" y="0"/>
                  </a:lnTo>
                  <a:close/>
                </a:path>
              </a:pathLst>
            </a:custGeom>
            <a:blipFill>
              <a:blip r:embed="rId2"/>
              <a:stretch>
                <a:fillRect b="2"/>
              </a:stretch>
            </a:blipFill>
          </p:spPr>
        </p:sp>
      </p:grpSp>
      <p:grpSp>
        <p:nvGrpSpPr>
          <p:cNvPr id="8" name="Group 8"/>
          <p:cNvGrpSpPr/>
          <p:nvPr/>
        </p:nvGrpSpPr>
        <p:grpSpPr>
          <a:xfrm>
            <a:off x="7990242" y="9984655"/>
            <a:ext cx="173987" cy="173987"/>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7CB5"/>
            </a:solidFill>
          </p:spPr>
        </p:sp>
        <p:sp>
          <p:nvSpPr>
            <p:cNvPr id="10" name="TextBox 10"/>
            <p:cNvSpPr txBox="1"/>
            <p:nvPr/>
          </p:nvSpPr>
          <p:spPr>
            <a:xfrm>
              <a:off x="76200" y="47625"/>
              <a:ext cx="660400" cy="688975"/>
            </a:xfrm>
            <a:prstGeom prst="rect">
              <a:avLst/>
            </a:prstGeom>
          </p:spPr>
          <p:txBody>
            <a:bodyPr lIns="50800" tIns="50800" rIns="50800" bIns="50800" rtlCol="0" anchor="ctr"/>
            <a:lstStyle/>
            <a:p>
              <a:pPr algn="ctr">
                <a:lnSpc>
                  <a:spcPts val="2239"/>
                </a:lnSpc>
              </a:pPr>
              <a:endParaRPr/>
            </a:p>
          </p:txBody>
        </p:sp>
      </p:grpSp>
      <p:grpSp>
        <p:nvGrpSpPr>
          <p:cNvPr id="11" name="Group 11"/>
          <p:cNvGrpSpPr/>
          <p:nvPr/>
        </p:nvGrpSpPr>
        <p:grpSpPr>
          <a:xfrm>
            <a:off x="10353346" y="9948585"/>
            <a:ext cx="173987" cy="173987"/>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7CB5"/>
            </a:solidFill>
          </p:spPr>
        </p:sp>
        <p:sp>
          <p:nvSpPr>
            <p:cNvPr id="13" name="TextBox 13"/>
            <p:cNvSpPr txBox="1"/>
            <p:nvPr/>
          </p:nvSpPr>
          <p:spPr>
            <a:xfrm>
              <a:off x="76200" y="47625"/>
              <a:ext cx="660400" cy="688975"/>
            </a:xfrm>
            <a:prstGeom prst="rect">
              <a:avLst/>
            </a:prstGeom>
          </p:spPr>
          <p:txBody>
            <a:bodyPr lIns="50800" tIns="50800" rIns="50800" bIns="50800" rtlCol="0" anchor="ctr"/>
            <a:lstStyle/>
            <a:p>
              <a:pPr algn="ctr">
                <a:lnSpc>
                  <a:spcPts val="2239"/>
                </a:lnSpc>
              </a:pPr>
              <a:endParaRPr/>
            </a:p>
          </p:txBody>
        </p:sp>
      </p:grpSp>
      <p:grpSp>
        <p:nvGrpSpPr>
          <p:cNvPr id="14" name="Group 14"/>
          <p:cNvGrpSpPr/>
          <p:nvPr/>
        </p:nvGrpSpPr>
        <p:grpSpPr>
          <a:xfrm>
            <a:off x="6868821" y="1903286"/>
            <a:ext cx="3925250" cy="641986"/>
            <a:chOff x="0" y="0"/>
            <a:chExt cx="1033811" cy="169083"/>
          </a:xfrm>
        </p:grpSpPr>
        <p:sp>
          <p:nvSpPr>
            <p:cNvPr id="15" name="Freeform 15"/>
            <p:cNvSpPr/>
            <p:nvPr/>
          </p:nvSpPr>
          <p:spPr>
            <a:xfrm>
              <a:off x="0" y="0"/>
              <a:ext cx="1033811" cy="169083"/>
            </a:xfrm>
            <a:custGeom>
              <a:avLst/>
              <a:gdLst/>
              <a:ahLst/>
              <a:cxnLst/>
              <a:rect l="l" t="t" r="r" b="b"/>
              <a:pathLst>
                <a:path w="1033811" h="169083">
                  <a:moveTo>
                    <a:pt x="84541" y="0"/>
                  </a:moveTo>
                  <a:lnTo>
                    <a:pt x="949269" y="0"/>
                  </a:lnTo>
                  <a:cubicBezTo>
                    <a:pt x="971691" y="0"/>
                    <a:pt x="993195" y="8907"/>
                    <a:pt x="1009049" y="24762"/>
                  </a:cubicBezTo>
                  <a:cubicBezTo>
                    <a:pt x="1024904" y="40616"/>
                    <a:pt x="1033811" y="62120"/>
                    <a:pt x="1033811" y="84541"/>
                  </a:cubicBezTo>
                  <a:lnTo>
                    <a:pt x="1033811" y="84541"/>
                  </a:lnTo>
                  <a:cubicBezTo>
                    <a:pt x="1033811" y="106963"/>
                    <a:pt x="1024904" y="128467"/>
                    <a:pt x="1009049" y="144321"/>
                  </a:cubicBezTo>
                  <a:cubicBezTo>
                    <a:pt x="993195" y="160176"/>
                    <a:pt x="971691" y="169083"/>
                    <a:pt x="949269" y="169083"/>
                  </a:cubicBezTo>
                  <a:lnTo>
                    <a:pt x="84541" y="169083"/>
                  </a:lnTo>
                  <a:cubicBezTo>
                    <a:pt x="62120" y="169083"/>
                    <a:pt x="40616" y="160176"/>
                    <a:pt x="24762" y="144321"/>
                  </a:cubicBezTo>
                  <a:cubicBezTo>
                    <a:pt x="8907" y="128467"/>
                    <a:pt x="0" y="106963"/>
                    <a:pt x="0" y="84541"/>
                  </a:cubicBezTo>
                  <a:lnTo>
                    <a:pt x="0" y="84541"/>
                  </a:lnTo>
                  <a:cubicBezTo>
                    <a:pt x="0" y="62120"/>
                    <a:pt x="8907" y="40616"/>
                    <a:pt x="24762" y="24762"/>
                  </a:cubicBezTo>
                  <a:cubicBezTo>
                    <a:pt x="40616" y="8907"/>
                    <a:pt x="62120" y="0"/>
                    <a:pt x="84541" y="0"/>
                  </a:cubicBezTo>
                  <a:close/>
                </a:path>
              </a:pathLst>
            </a:custGeom>
            <a:solidFill>
              <a:srgbClr val="FA7CB5"/>
            </a:solidFill>
          </p:spPr>
        </p:sp>
        <p:sp>
          <p:nvSpPr>
            <p:cNvPr id="16" name="TextBox 16"/>
            <p:cNvSpPr txBox="1"/>
            <p:nvPr/>
          </p:nvSpPr>
          <p:spPr>
            <a:xfrm>
              <a:off x="0" y="-28575"/>
              <a:ext cx="1033811" cy="197658"/>
            </a:xfrm>
            <a:prstGeom prst="rect">
              <a:avLst/>
            </a:prstGeom>
          </p:spPr>
          <p:txBody>
            <a:bodyPr lIns="50800" tIns="50800" rIns="50800" bIns="50800" rtlCol="0" anchor="ctr"/>
            <a:lstStyle/>
            <a:p>
              <a:pPr algn="ctr">
                <a:lnSpc>
                  <a:spcPts val="2239"/>
                </a:lnSpc>
              </a:pPr>
              <a:endParaRPr/>
            </a:p>
          </p:txBody>
        </p:sp>
      </p:grpSp>
      <p:sp>
        <p:nvSpPr>
          <p:cNvPr id="17" name="Freeform 17"/>
          <p:cNvSpPr/>
          <p:nvPr/>
        </p:nvSpPr>
        <p:spPr>
          <a:xfrm>
            <a:off x="13002366" y="-47625"/>
            <a:ext cx="5063940" cy="1941386"/>
          </a:xfrm>
          <a:custGeom>
            <a:avLst/>
            <a:gdLst/>
            <a:ahLst/>
            <a:cxnLst/>
            <a:rect l="l" t="t" r="r" b="b"/>
            <a:pathLst>
              <a:path w="5063940" h="1941386">
                <a:moveTo>
                  <a:pt x="0" y="0"/>
                </a:moveTo>
                <a:lnTo>
                  <a:pt x="5063940" y="0"/>
                </a:lnTo>
                <a:lnTo>
                  <a:pt x="5063940" y="1941386"/>
                </a:lnTo>
                <a:lnTo>
                  <a:pt x="0" y="1941386"/>
                </a:lnTo>
                <a:lnTo>
                  <a:pt x="0" y="0"/>
                </a:lnTo>
                <a:close/>
              </a:path>
            </a:pathLst>
          </a:custGeom>
          <a:blipFill>
            <a:blip r:embed="rId3"/>
            <a:stretch>
              <a:fillRect/>
            </a:stretch>
          </a:blipFill>
        </p:spPr>
      </p:sp>
      <p:sp>
        <p:nvSpPr>
          <p:cNvPr id="18" name="TextBox 18"/>
          <p:cNvSpPr txBox="1"/>
          <p:nvPr/>
        </p:nvSpPr>
        <p:spPr>
          <a:xfrm>
            <a:off x="8316142" y="9882546"/>
            <a:ext cx="1743273" cy="264135"/>
          </a:xfrm>
          <a:prstGeom prst="rect">
            <a:avLst/>
          </a:prstGeom>
        </p:spPr>
        <p:txBody>
          <a:bodyPr lIns="0" tIns="0" rIns="0" bIns="0" rtlCol="0" anchor="t">
            <a:spAutoFit/>
          </a:bodyPr>
          <a:lstStyle/>
          <a:p>
            <a:pPr algn="l">
              <a:lnSpc>
                <a:spcPts val="2239"/>
              </a:lnSpc>
            </a:pPr>
            <a:r>
              <a:rPr lang="en-US" sz="1599">
                <a:solidFill>
                  <a:srgbClr val="000000"/>
                </a:solidFill>
                <a:latin typeface="IBM Plex Sans"/>
                <a:ea typeface="IBM Plex Sans"/>
                <a:cs typeface="IBM Plex Sans"/>
                <a:sym typeface="IBM Plex Sans"/>
              </a:rPr>
              <a:t>Q-Hack India 2026</a:t>
            </a:r>
          </a:p>
        </p:txBody>
      </p:sp>
      <p:sp>
        <p:nvSpPr>
          <p:cNvPr id="19" name="Freeform 19"/>
          <p:cNvSpPr/>
          <p:nvPr/>
        </p:nvSpPr>
        <p:spPr>
          <a:xfrm>
            <a:off x="7514703" y="-217781"/>
            <a:ext cx="2134862" cy="2130592"/>
          </a:xfrm>
          <a:custGeom>
            <a:avLst/>
            <a:gdLst/>
            <a:ahLst/>
            <a:cxnLst/>
            <a:rect l="l" t="t" r="r" b="b"/>
            <a:pathLst>
              <a:path w="2134862" h="2130592">
                <a:moveTo>
                  <a:pt x="0" y="0"/>
                </a:moveTo>
                <a:lnTo>
                  <a:pt x="2134862" y="0"/>
                </a:lnTo>
                <a:lnTo>
                  <a:pt x="2134862" y="2130592"/>
                </a:lnTo>
                <a:lnTo>
                  <a:pt x="0" y="2130592"/>
                </a:lnTo>
                <a:lnTo>
                  <a:pt x="0" y="0"/>
                </a:lnTo>
                <a:close/>
              </a:path>
            </a:pathLst>
          </a:custGeom>
          <a:blipFill>
            <a:blip r:embed="rId4"/>
            <a:stretch>
              <a:fillRect/>
            </a:stretch>
          </a:blipFill>
        </p:spPr>
      </p:sp>
      <p:grpSp>
        <p:nvGrpSpPr>
          <p:cNvPr id="20" name="Group 20"/>
          <p:cNvGrpSpPr/>
          <p:nvPr/>
        </p:nvGrpSpPr>
        <p:grpSpPr>
          <a:xfrm>
            <a:off x="16388711" y="8987334"/>
            <a:ext cx="1677594" cy="1065265"/>
            <a:chOff x="0" y="0"/>
            <a:chExt cx="4028567" cy="2558123"/>
          </a:xfrm>
        </p:grpSpPr>
        <p:sp>
          <p:nvSpPr>
            <p:cNvPr id="21" name="Freeform 21"/>
            <p:cNvSpPr/>
            <p:nvPr/>
          </p:nvSpPr>
          <p:spPr>
            <a:xfrm>
              <a:off x="0" y="0"/>
              <a:ext cx="4028567" cy="2558161"/>
            </a:xfrm>
            <a:custGeom>
              <a:avLst/>
              <a:gdLst/>
              <a:ahLst/>
              <a:cxnLst/>
              <a:rect l="l" t="t" r="r" b="b"/>
              <a:pathLst>
                <a:path w="4028567" h="2558161">
                  <a:moveTo>
                    <a:pt x="0" y="0"/>
                  </a:moveTo>
                  <a:lnTo>
                    <a:pt x="4028567" y="0"/>
                  </a:lnTo>
                  <a:lnTo>
                    <a:pt x="4028567" y="2558161"/>
                  </a:lnTo>
                  <a:lnTo>
                    <a:pt x="0" y="2558161"/>
                  </a:lnTo>
                  <a:lnTo>
                    <a:pt x="0" y="0"/>
                  </a:lnTo>
                  <a:close/>
                </a:path>
              </a:pathLst>
            </a:custGeom>
            <a:blipFill>
              <a:blip r:embed="rId5"/>
              <a:stretch>
                <a:fillRect b="1"/>
              </a:stretch>
            </a:blipFill>
          </p:spPr>
        </p:sp>
      </p:grpSp>
      <p:sp>
        <p:nvSpPr>
          <p:cNvPr id="22" name="TextBox 22"/>
          <p:cNvSpPr txBox="1"/>
          <p:nvPr/>
        </p:nvSpPr>
        <p:spPr>
          <a:xfrm>
            <a:off x="7362389" y="1945514"/>
            <a:ext cx="2915245" cy="481331"/>
          </a:xfrm>
          <a:prstGeom prst="rect">
            <a:avLst/>
          </a:prstGeom>
        </p:spPr>
        <p:txBody>
          <a:bodyPr lIns="0" tIns="0" rIns="0" bIns="0" rtlCol="0" anchor="t">
            <a:spAutoFit/>
          </a:bodyPr>
          <a:lstStyle/>
          <a:p>
            <a:pPr algn="ctr">
              <a:lnSpc>
                <a:spcPts val="3919"/>
              </a:lnSpc>
              <a:spcBef>
                <a:spcPct val="0"/>
              </a:spcBef>
            </a:pPr>
            <a:r>
              <a:rPr lang="en-US" sz="2799">
                <a:solidFill>
                  <a:srgbClr val="000000"/>
                </a:solidFill>
                <a:latin typeface="IBM Plex Sans"/>
                <a:ea typeface="IBM Plex Sans"/>
                <a:cs typeface="IBM Plex Sans"/>
                <a:sym typeface="IBM Plex Sans"/>
              </a:rPr>
              <a:t>Minimal Prototype</a:t>
            </a:r>
          </a:p>
        </p:txBody>
      </p:sp>
      <p:sp>
        <p:nvSpPr>
          <p:cNvPr id="23" name="TextBox 23"/>
          <p:cNvSpPr txBox="1"/>
          <p:nvPr/>
        </p:nvSpPr>
        <p:spPr>
          <a:xfrm>
            <a:off x="2200513" y="4839970"/>
            <a:ext cx="13886974" cy="1189356"/>
          </a:xfrm>
          <a:prstGeom prst="rect">
            <a:avLst/>
          </a:prstGeom>
        </p:spPr>
        <p:txBody>
          <a:bodyPr lIns="0" tIns="0" rIns="0" bIns="0" rtlCol="0" anchor="t">
            <a:spAutoFit/>
          </a:bodyPr>
          <a:lstStyle/>
          <a:p>
            <a:pPr algn="ctr">
              <a:lnSpc>
                <a:spcPts val="3219"/>
              </a:lnSpc>
              <a:spcBef>
                <a:spcPct val="0"/>
              </a:spcBef>
            </a:pPr>
            <a:r>
              <a:rPr lang="en-US" sz="2299">
                <a:solidFill>
                  <a:srgbClr val="000000"/>
                </a:solidFill>
                <a:latin typeface="IBM Plex Sans"/>
                <a:ea typeface="IBM Plex Sans"/>
                <a:cs typeface="IBM Plex Sans"/>
                <a:sym typeface="IBM Plex Sans"/>
              </a:rPr>
              <a:t>What have you actually built?</a:t>
            </a:r>
          </a:p>
          <a:p>
            <a:pPr algn="ctr">
              <a:lnSpc>
                <a:spcPts val="3219"/>
              </a:lnSpc>
              <a:spcBef>
                <a:spcPct val="0"/>
              </a:spcBef>
            </a:pPr>
            <a:r>
              <a:rPr lang="en-US" sz="2299">
                <a:solidFill>
                  <a:srgbClr val="000000"/>
                </a:solidFill>
                <a:latin typeface="IBM Plex Sans"/>
                <a:ea typeface="IBM Plex Sans"/>
                <a:cs typeface="IBM Plex Sans"/>
                <a:sym typeface="IBM Plex Sans"/>
              </a:rPr>
              <a:t>Show the minimal prototype, MVP, notebook, simulation, quantum circuit, hybrid application, visualization,</a:t>
            </a:r>
          </a:p>
          <a:p>
            <a:pPr algn="ctr">
              <a:lnSpc>
                <a:spcPts val="3219"/>
              </a:lnSpc>
              <a:spcBef>
                <a:spcPct val="0"/>
              </a:spcBef>
            </a:pPr>
            <a:r>
              <a:rPr lang="en-US" sz="2299">
                <a:solidFill>
                  <a:srgbClr val="000000"/>
                </a:solidFill>
                <a:latin typeface="IBM Plex Sans"/>
                <a:ea typeface="IBM Plex Sans"/>
                <a:cs typeface="IBM Plex Sans"/>
                <a:sym typeface="IBM Plex Sans"/>
              </a:rPr>
              <a:t> hardware experiment, or other working implementation.</a:t>
            </a:r>
          </a:p>
        </p:txBody>
      </p:sp>
      <p:sp>
        <p:nvSpPr>
          <p:cNvPr id="24" name="Freeform 24"/>
          <p:cNvSpPr/>
          <p:nvPr/>
        </p:nvSpPr>
        <p:spPr>
          <a:xfrm>
            <a:off x="264376" y="407706"/>
            <a:ext cx="3092172" cy="1030724"/>
          </a:xfrm>
          <a:custGeom>
            <a:avLst/>
            <a:gdLst/>
            <a:ahLst/>
            <a:cxnLst/>
            <a:rect l="l" t="t" r="r" b="b"/>
            <a:pathLst>
              <a:path w="3092172" h="1030724">
                <a:moveTo>
                  <a:pt x="0" y="0"/>
                </a:moveTo>
                <a:lnTo>
                  <a:pt x="3092172" y="0"/>
                </a:lnTo>
                <a:lnTo>
                  <a:pt x="3092172" y="1030724"/>
                </a:lnTo>
                <a:lnTo>
                  <a:pt x="0" y="1030724"/>
                </a:lnTo>
                <a:lnTo>
                  <a:pt x="0" y="0"/>
                </a:lnTo>
                <a:close/>
              </a:path>
            </a:pathLst>
          </a:custGeom>
          <a:blipFill>
            <a:blip r:embed="rId6"/>
            <a:stretch>
              <a:fillRect/>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B48AF7"/>
        </a:solidFill>
        <a:effectLst/>
      </p:bgPr>
    </p:bg>
    <p:spTree>
      <p:nvGrpSpPr>
        <p:cNvPr id="1" name=""/>
        <p:cNvGrpSpPr/>
        <p:nvPr/>
      </p:nvGrpSpPr>
      <p:grpSpPr>
        <a:xfrm>
          <a:off x="0" y="0"/>
          <a:ext cx="0" cy="0"/>
          <a:chOff x="0" y="0"/>
          <a:chExt cx="0" cy="0"/>
        </a:xfrm>
      </p:grpSpPr>
      <p:grpSp>
        <p:nvGrpSpPr>
          <p:cNvPr id="2" name="Group 2"/>
          <p:cNvGrpSpPr/>
          <p:nvPr/>
        </p:nvGrpSpPr>
        <p:grpSpPr>
          <a:xfrm>
            <a:off x="-1597105" y="2516808"/>
            <a:ext cx="2625805" cy="830953"/>
            <a:chOff x="0" y="0"/>
            <a:chExt cx="5816600" cy="1840700"/>
          </a:xfrm>
        </p:grpSpPr>
        <p:sp>
          <p:nvSpPr>
            <p:cNvPr id="3" name="Freeform 3"/>
            <p:cNvSpPr/>
            <p:nvPr/>
          </p:nvSpPr>
          <p:spPr>
            <a:xfrm>
              <a:off x="0" y="0"/>
              <a:ext cx="5816600" cy="1840738"/>
            </a:xfrm>
            <a:custGeom>
              <a:avLst/>
              <a:gdLst/>
              <a:ahLst/>
              <a:cxnLst/>
              <a:rect l="l" t="t" r="r" b="b"/>
              <a:pathLst>
                <a:path w="5816600" h="1840738">
                  <a:moveTo>
                    <a:pt x="0" y="0"/>
                  </a:moveTo>
                  <a:lnTo>
                    <a:pt x="5816600" y="0"/>
                  </a:lnTo>
                  <a:lnTo>
                    <a:pt x="5816600" y="1840738"/>
                  </a:lnTo>
                  <a:lnTo>
                    <a:pt x="0" y="1840738"/>
                  </a:lnTo>
                  <a:lnTo>
                    <a:pt x="0" y="0"/>
                  </a:lnTo>
                  <a:close/>
                </a:path>
              </a:pathLst>
            </a:custGeom>
            <a:blipFill>
              <a:blip r:embed="rId2"/>
              <a:stretch>
                <a:fillRect b="2"/>
              </a:stretch>
            </a:blipFill>
          </p:spPr>
        </p:sp>
      </p:grpSp>
      <p:grpSp>
        <p:nvGrpSpPr>
          <p:cNvPr id="4" name="Group 4"/>
          <p:cNvGrpSpPr/>
          <p:nvPr/>
        </p:nvGrpSpPr>
        <p:grpSpPr>
          <a:xfrm>
            <a:off x="2928206" y="9780631"/>
            <a:ext cx="2625805" cy="830953"/>
            <a:chOff x="0" y="0"/>
            <a:chExt cx="5816600" cy="1840700"/>
          </a:xfrm>
        </p:grpSpPr>
        <p:sp>
          <p:nvSpPr>
            <p:cNvPr id="5" name="Freeform 5"/>
            <p:cNvSpPr/>
            <p:nvPr/>
          </p:nvSpPr>
          <p:spPr>
            <a:xfrm>
              <a:off x="0" y="0"/>
              <a:ext cx="5816600" cy="1840738"/>
            </a:xfrm>
            <a:custGeom>
              <a:avLst/>
              <a:gdLst/>
              <a:ahLst/>
              <a:cxnLst/>
              <a:rect l="l" t="t" r="r" b="b"/>
              <a:pathLst>
                <a:path w="5816600" h="1840738">
                  <a:moveTo>
                    <a:pt x="0" y="0"/>
                  </a:moveTo>
                  <a:lnTo>
                    <a:pt x="5816600" y="0"/>
                  </a:lnTo>
                  <a:lnTo>
                    <a:pt x="5816600" y="1840738"/>
                  </a:lnTo>
                  <a:lnTo>
                    <a:pt x="0" y="1840738"/>
                  </a:lnTo>
                  <a:lnTo>
                    <a:pt x="0" y="0"/>
                  </a:lnTo>
                  <a:close/>
                </a:path>
              </a:pathLst>
            </a:custGeom>
            <a:blipFill>
              <a:blip r:embed="rId2"/>
              <a:stretch>
                <a:fillRect b="2"/>
              </a:stretch>
            </a:blipFill>
          </p:spPr>
        </p:sp>
      </p:grpSp>
      <p:grpSp>
        <p:nvGrpSpPr>
          <p:cNvPr id="6" name="Group 6"/>
          <p:cNvGrpSpPr/>
          <p:nvPr/>
        </p:nvGrpSpPr>
        <p:grpSpPr>
          <a:xfrm>
            <a:off x="13367623" y="9656173"/>
            <a:ext cx="2625805" cy="830953"/>
            <a:chOff x="0" y="0"/>
            <a:chExt cx="5816600" cy="1840700"/>
          </a:xfrm>
        </p:grpSpPr>
        <p:sp>
          <p:nvSpPr>
            <p:cNvPr id="7" name="Freeform 7"/>
            <p:cNvSpPr/>
            <p:nvPr/>
          </p:nvSpPr>
          <p:spPr>
            <a:xfrm>
              <a:off x="0" y="0"/>
              <a:ext cx="5816600" cy="1840738"/>
            </a:xfrm>
            <a:custGeom>
              <a:avLst/>
              <a:gdLst/>
              <a:ahLst/>
              <a:cxnLst/>
              <a:rect l="l" t="t" r="r" b="b"/>
              <a:pathLst>
                <a:path w="5816600" h="1840738">
                  <a:moveTo>
                    <a:pt x="0" y="0"/>
                  </a:moveTo>
                  <a:lnTo>
                    <a:pt x="5816600" y="0"/>
                  </a:lnTo>
                  <a:lnTo>
                    <a:pt x="5816600" y="1840738"/>
                  </a:lnTo>
                  <a:lnTo>
                    <a:pt x="0" y="1840738"/>
                  </a:lnTo>
                  <a:lnTo>
                    <a:pt x="0" y="0"/>
                  </a:lnTo>
                  <a:close/>
                </a:path>
              </a:pathLst>
            </a:custGeom>
            <a:blipFill>
              <a:blip r:embed="rId2"/>
              <a:stretch>
                <a:fillRect b="2"/>
              </a:stretch>
            </a:blipFill>
          </p:spPr>
        </p:sp>
      </p:grpSp>
      <p:grpSp>
        <p:nvGrpSpPr>
          <p:cNvPr id="8" name="Group 8"/>
          <p:cNvGrpSpPr/>
          <p:nvPr/>
        </p:nvGrpSpPr>
        <p:grpSpPr>
          <a:xfrm>
            <a:off x="7990242" y="9984655"/>
            <a:ext cx="173987" cy="173987"/>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7CB5"/>
            </a:solidFill>
          </p:spPr>
        </p:sp>
        <p:sp>
          <p:nvSpPr>
            <p:cNvPr id="10" name="TextBox 10"/>
            <p:cNvSpPr txBox="1"/>
            <p:nvPr/>
          </p:nvSpPr>
          <p:spPr>
            <a:xfrm>
              <a:off x="76200" y="47625"/>
              <a:ext cx="660400" cy="688975"/>
            </a:xfrm>
            <a:prstGeom prst="rect">
              <a:avLst/>
            </a:prstGeom>
          </p:spPr>
          <p:txBody>
            <a:bodyPr lIns="50800" tIns="50800" rIns="50800" bIns="50800" rtlCol="0" anchor="ctr"/>
            <a:lstStyle/>
            <a:p>
              <a:pPr algn="ctr">
                <a:lnSpc>
                  <a:spcPts val="2239"/>
                </a:lnSpc>
              </a:pPr>
              <a:endParaRPr/>
            </a:p>
          </p:txBody>
        </p:sp>
      </p:grpSp>
      <p:grpSp>
        <p:nvGrpSpPr>
          <p:cNvPr id="11" name="Group 11"/>
          <p:cNvGrpSpPr/>
          <p:nvPr/>
        </p:nvGrpSpPr>
        <p:grpSpPr>
          <a:xfrm>
            <a:off x="10353346" y="9948585"/>
            <a:ext cx="173987" cy="173987"/>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7CB5"/>
            </a:solidFill>
          </p:spPr>
        </p:sp>
        <p:sp>
          <p:nvSpPr>
            <p:cNvPr id="13" name="TextBox 13"/>
            <p:cNvSpPr txBox="1"/>
            <p:nvPr/>
          </p:nvSpPr>
          <p:spPr>
            <a:xfrm>
              <a:off x="76200" y="47625"/>
              <a:ext cx="660400" cy="688975"/>
            </a:xfrm>
            <a:prstGeom prst="rect">
              <a:avLst/>
            </a:prstGeom>
          </p:spPr>
          <p:txBody>
            <a:bodyPr lIns="50800" tIns="50800" rIns="50800" bIns="50800" rtlCol="0" anchor="ctr"/>
            <a:lstStyle/>
            <a:p>
              <a:pPr algn="ctr">
                <a:lnSpc>
                  <a:spcPts val="2239"/>
                </a:lnSpc>
              </a:pPr>
              <a:endParaRPr/>
            </a:p>
          </p:txBody>
        </p:sp>
      </p:grpSp>
      <p:grpSp>
        <p:nvGrpSpPr>
          <p:cNvPr id="14" name="Group 14"/>
          <p:cNvGrpSpPr/>
          <p:nvPr/>
        </p:nvGrpSpPr>
        <p:grpSpPr>
          <a:xfrm>
            <a:off x="7045033" y="1893761"/>
            <a:ext cx="3482300" cy="641986"/>
            <a:chOff x="0" y="0"/>
            <a:chExt cx="917149" cy="169083"/>
          </a:xfrm>
        </p:grpSpPr>
        <p:sp>
          <p:nvSpPr>
            <p:cNvPr id="15" name="Freeform 15"/>
            <p:cNvSpPr/>
            <p:nvPr/>
          </p:nvSpPr>
          <p:spPr>
            <a:xfrm>
              <a:off x="0" y="0"/>
              <a:ext cx="917149" cy="169083"/>
            </a:xfrm>
            <a:custGeom>
              <a:avLst/>
              <a:gdLst/>
              <a:ahLst/>
              <a:cxnLst/>
              <a:rect l="l" t="t" r="r" b="b"/>
              <a:pathLst>
                <a:path w="917149" h="169083">
                  <a:moveTo>
                    <a:pt x="84541" y="0"/>
                  </a:moveTo>
                  <a:lnTo>
                    <a:pt x="832608" y="0"/>
                  </a:lnTo>
                  <a:cubicBezTo>
                    <a:pt x="855029" y="0"/>
                    <a:pt x="876533" y="8907"/>
                    <a:pt x="892387" y="24762"/>
                  </a:cubicBezTo>
                  <a:cubicBezTo>
                    <a:pt x="908242" y="40616"/>
                    <a:pt x="917149" y="62120"/>
                    <a:pt x="917149" y="84541"/>
                  </a:cubicBezTo>
                  <a:lnTo>
                    <a:pt x="917149" y="84541"/>
                  </a:lnTo>
                  <a:cubicBezTo>
                    <a:pt x="917149" y="106963"/>
                    <a:pt x="908242" y="128467"/>
                    <a:pt x="892387" y="144321"/>
                  </a:cubicBezTo>
                  <a:cubicBezTo>
                    <a:pt x="876533" y="160176"/>
                    <a:pt x="855029" y="169083"/>
                    <a:pt x="832608" y="169083"/>
                  </a:cubicBezTo>
                  <a:lnTo>
                    <a:pt x="84541" y="169083"/>
                  </a:lnTo>
                  <a:cubicBezTo>
                    <a:pt x="62120" y="169083"/>
                    <a:pt x="40616" y="160176"/>
                    <a:pt x="24762" y="144321"/>
                  </a:cubicBezTo>
                  <a:cubicBezTo>
                    <a:pt x="8907" y="128467"/>
                    <a:pt x="0" y="106963"/>
                    <a:pt x="0" y="84541"/>
                  </a:cubicBezTo>
                  <a:lnTo>
                    <a:pt x="0" y="84541"/>
                  </a:lnTo>
                  <a:cubicBezTo>
                    <a:pt x="0" y="62120"/>
                    <a:pt x="8907" y="40616"/>
                    <a:pt x="24762" y="24762"/>
                  </a:cubicBezTo>
                  <a:cubicBezTo>
                    <a:pt x="40616" y="8907"/>
                    <a:pt x="62120" y="0"/>
                    <a:pt x="84541" y="0"/>
                  </a:cubicBezTo>
                  <a:close/>
                </a:path>
              </a:pathLst>
            </a:custGeom>
            <a:solidFill>
              <a:srgbClr val="E0E0E0"/>
            </a:solidFill>
          </p:spPr>
        </p:sp>
        <p:sp>
          <p:nvSpPr>
            <p:cNvPr id="16" name="TextBox 16"/>
            <p:cNvSpPr txBox="1"/>
            <p:nvPr/>
          </p:nvSpPr>
          <p:spPr>
            <a:xfrm>
              <a:off x="0" y="-28575"/>
              <a:ext cx="917149" cy="197658"/>
            </a:xfrm>
            <a:prstGeom prst="rect">
              <a:avLst/>
            </a:prstGeom>
          </p:spPr>
          <p:txBody>
            <a:bodyPr lIns="50800" tIns="50800" rIns="50800" bIns="50800" rtlCol="0" anchor="ctr"/>
            <a:lstStyle/>
            <a:p>
              <a:pPr algn="ctr">
                <a:lnSpc>
                  <a:spcPts val="2239"/>
                </a:lnSpc>
              </a:pPr>
              <a:endParaRPr/>
            </a:p>
          </p:txBody>
        </p:sp>
      </p:grpSp>
      <p:sp>
        <p:nvSpPr>
          <p:cNvPr id="17" name="Freeform 17"/>
          <p:cNvSpPr/>
          <p:nvPr/>
        </p:nvSpPr>
        <p:spPr>
          <a:xfrm>
            <a:off x="13002366" y="-47625"/>
            <a:ext cx="5063940" cy="1941386"/>
          </a:xfrm>
          <a:custGeom>
            <a:avLst/>
            <a:gdLst/>
            <a:ahLst/>
            <a:cxnLst/>
            <a:rect l="l" t="t" r="r" b="b"/>
            <a:pathLst>
              <a:path w="5063940" h="1941386">
                <a:moveTo>
                  <a:pt x="0" y="0"/>
                </a:moveTo>
                <a:lnTo>
                  <a:pt x="5063940" y="0"/>
                </a:lnTo>
                <a:lnTo>
                  <a:pt x="5063940" y="1941386"/>
                </a:lnTo>
                <a:lnTo>
                  <a:pt x="0" y="1941386"/>
                </a:lnTo>
                <a:lnTo>
                  <a:pt x="0" y="0"/>
                </a:lnTo>
                <a:close/>
              </a:path>
            </a:pathLst>
          </a:custGeom>
          <a:blipFill>
            <a:blip r:embed="rId3"/>
            <a:stretch>
              <a:fillRect/>
            </a:stretch>
          </a:blipFill>
        </p:spPr>
      </p:sp>
      <p:sp>
        <p:nvSpPr>
          <p:cNvPr id="18" name="TextBox 18"/>
          <p:cNvSpPr txBox="1"/>
          <p:nvPr/>
        </p:nvSpPr>
        <p:spPr>
          <a:xfrm>
            <a:off x="8316142" y="9882546"/>
            <a:ext cx="1743273" cy="264135"/>
          </a:xfrm>
          <a:prstGeom prst="rect">
            <a:avLst/>
          </a:prstGeom>
        </p:spPr>
        <p:txBody>
          <a:bodyPr lIns="0" tIns="0" rIns="0" bIns="0" rtlCol="0" anchor="t">
            <a:spAutoFit/>
          </a:bodyPr>
          <a:lstStyle/>
          <a:p>
            <a:pPr algn="l">
              <a:lnSpc>
                <a:spcPts val="2239"/>
              </a:lnSpc>
            </a:pPr>
            <a:r>
              <a:rPr lang="en-US" sz="1599">
                <a:solidFill>
                  <a:srgbClr val="000000"/>
                </a:solidFill>
                <a:latin typeface="IBM Plex Sans"/>
                <a:ea typeface="IBM Plex Sans"/>
                <a:cs typeface="IBM Plex Sans"/>
                <a:sym typeface="IBM Plex Sans"/>
              </a:rPr>
              <a:t>Q-Hack India 2026</a:t>
            </a:r>
          </a:p>
        </p:txBody>
      </p:sp>
      <p:sp>
        <p:nvSpPr>
          <p:cNvPr id="19" name="Freeform 19"/>
          <p:cNvSpPr/>
          <p:nvPr/>
        </p:nvSpPr>
        <p:spPr>
          <a:xfrm>
            <a:off x="7590903" y="-208256"/>
            <a:ext cx="2134862" cy="2130592"/>
          </a:xfrm>
          <a:custGeom>
            <a:avLst/>
            <a:gdLst/>
            <a:ahLst/>
            <a:cxnLst/>
            <a:rect l="l" t="t" r="r" b="b"/>
            <a:pathLst>
              <a:path w="2134862" h="2130592">
                <a:moveTo>
                  <a:pt x="0" y="0"/>
                </a:moveTo>
                <a:lnTo>
                  <a:pt x="2134862" y="0"/>
                </a:lnTo>
                <a:lnTo>
                  <a:pt x="2134862" y="2130592"/>
                </a:lnTo>
                <a:lnTo>
                  <a:pt x="0" y="2130592"/>
                </a:lnTo>
                <a:lnTo>
                  <a:pt x="0" y="0"/>
                </a:lnTo>
                <a:close/>
              </a:path>
            </a:pathLst>
          </a:custGeom>
          <a:blipFill>
            <a:blip r:embed="rId4"/>
            <a:stretch>
              <a:fillRect/>
            </a:stretch>
          </a:blipFill>
        </p:spPr>
      </p:sp>
      <p:grpSp>
        <p:nvGrpSpPr>
          <p:cNvPr id="20" name="Group 20"/>
          <p:cNvGrpSpPr/>
          <p:nvPr/>
        </p:nvGrpSpPr>
        <p:grpSpPr>
          <a:xfrm>
            <a:off x="16388711" y="8987334"/>
            <a:ext cx="1677594" cy="1065265"/>
            <a:chOff x="0" y="0"/>
            <a:chExt cx="4028567" cy="2558123"/>
          </a:xfrm>
        </p:grpSpPr>
        <p:sp>
          <p:nvSpPr>
            <p:cNvPr id="21" name="Freeform 21"/>
            <p:cNvSpPr/>
            <p:nvPr/>
          </p:nvSpPr>
          <p:spPr>
            <a:xfrm>
              <a:off x="0" y="0"/>
              <a:ext cx="4028567" cy="2558161"/>
            </a:xfrm>
            <a:custGeom>
              <a:avLst/>
              <a:gdLst/>
              <a:ahLst/>
              <a:cxnLst/>
              <a:rect l="l" t="t" r="r" b="b"/>
              <a:pathLst>
                <a:path w="4028567" h="2558161">
                  <a:moveTo>
                    <a:pt x="0" y="0"/>
                  </a:moveTo>
                  <a:lnTo>
                    <a:pt x="4028567" y="0"/>
                  </a:lnTo>
                  <a:lnTo>
                    <a:pt x="4028567" y="2558161"/>
                  </a:lnTo>
                  <a:lnTo>
                    <a:pt x="0" y="2558161"/>
                  </a:lnTo>
                  <a:lnTo>
                    <a:pt x="0" y="0"/>
                  </a:lnTo>
                  <a:close/>
                </a:path>
              </a:pathLst>
            </a:custGeom>
            <a:blipFill>
              <a:blip r:embed="rId5"/>
              <a:stretch>
                <a:fillRect b="1"/>
              </a:stretch>
            </a:blipFill>
          </p:spPr>
        </p:sp>
      </p:grpSp>
      <p:grpSp>
        <p:nvGrpSpPr>
          <p:cNvPr id="22" name="Group 22"/>
          <p:cNvGrpSpPr/>
          <p:nvPr/>
        </p:nvGrpSpPr>
        <p:grpSpPr>
          <a:xfrm>
            <a:off x="16564806" y="3523271"/>
            <a:ext cx="2625805" cy="830953"/>
            <a:chOff x="0" y="0"/>
            <a:chExt cx="5816600" cy="1840700"/>
          </a:xfrm>
        </p:grpSpPr>
        <p:sp>
          <p:nvSpPr>
            <p:cNvPr id="23" name="Freeform 23"/>
            <p:cNvSpPr/>
            <p:nvPr/>
          </p:nvSpPr>
          <p:spPr>
            <a:xfrm>
              <a:off x="0" y="0"/>
              <a:ext cx="5816600" cy="1840738"/>
            </a:xfrm>
            <a:custGeom>
              <a:avLst/>
              <a:gdLst/>
              <a:ahLst/>
              <a:cxnLst/>
              <a:rect l="l" t="t" r="r" b="b"/>
              <a:pathLst>
                <a:path w="5816600" h="1840738">
                  <a:moveTo>
                    <a:pt x="0" y="0"/>
                  </a:moveTo>
                  <a:lnTo>
                    <a:pt x="5816600" y="0"/>
                  </a:lnTo>
                  <a:lnTo>
                    <a:pt x="5816600" y="1840738"/>
                  </a:lnTo>
                  <a:lnTo>
                    <a:pt x="0" y="1840738"/>
                  </a:lnTo>
                  <a:lnTo>
                    <a:pt x="0" y="0"/>
                  </a:lnTo>
                  <a:close/>
                </a:path>
              </a:pathLst>
            </a:custGeom>
            <a:blipFill>
              <a:blip r:embed="rId2"/>
              <a:stretch>
                <a:fillRect b="2"/>
              </a:stretch>
            </a:blipFill>
          </p:spPr>
        </p:sp>
      </p:grpSp>
      <p:sp>
        <p:nvSpPr>
          <p:cNvPr id="24" name="TextBox 24"/>
          <p:cNvSpPr txBox="1"/>
          <p:nvPr/>
        </p:nvSpPr>
        <p:spPr>
          <a:xfrm>
            <a:off x="7550865" y="1969009"/>
            <a:ext cx="2641044" cy="405766"/>
          </a:xfrm>
          <a:prstGeom prst="rect">
            <a:avLst/>
          </a:prstGeom>
        </p:spPr>
        <p:txBody>
          <a:bodyPr lIns="0" tIns="0" rIns="0" bIns="0" rtlCol="0" anchor="t">
            <a:spAutoFit/>
          </a:bodyPr>
          <a:lstStyle/>
          <a:p>
            <a:pPr algn="ctr">
              <a:lnSpc>
                <a:spcPts val="3359"/>
              </a:lnSpc>
              <a:spcBef>
                <a:spcPct val="0"/>
              </a:spcBef>
            </a:pPr>
            <a:r>
              <a:rPr lang="en-US" sz="2399">
                <a:solidFill>
                  <a:srgbClr val="000000"/>
                </a:solidFill>
                <a:latin typeface="IBM Plex Sans"/>
                <a:ea typeface="IBM Plex Sans"/>
                <a:cs typeface="IBM Plex Sans"/>
                <a:sym typeface="IBM Plex Sans"/>
              </a:rPr>
              <a:t>Results / Validation</a:t>
            </a:r>
          </a:p>
        </p:txBody>
      </p:sp>
      <p:sp>
        <p:nvSpPr>
          <p:cNvPr id="25" name="TextBox 25"/>
          <p:cNvSpPr txBox="1"/>
          <p:nvPr/>
        </p:nvSpPr>
        <p:spPr>
          <a:xfrm>
            <a:off x="2098357" y="4278023"/>
            <a:ext cx="14015085" cy="1851660"/>
          </a:xfrm>
          <a:prstGeom prst="rect">
            <a:avLst/>
          </a:prstGeom>
        </p:spPr>
        <p:txBody>
          <a:bodyPr lIns="0" tIns="0" rIns="0" bIns="0" rtlCol="0" anchor="t">
            <a:spAutoFit/>
          </a:bodyPr>
          <a:lstStyle/>
          <a:p>
            <a:pPr algn="ctr">
              <a:lnSpc>
                <a:spcPts val="2939"/>
              </a:lnSpc>
            </a:pPr>
            <a:r>
              <a:rPr lang="en-US" sz="2099">
                <a:solidFill>
                  <a:srgbClr val="000000"/>
                </a:solidFill>
                <a:latin typeface="IBM Plex Sans"/>
                <a:ea typeface="IBM Plex Sans"/>
                <a:cs typeface="IBM Plex Sans"/>
                <a:sym typeface="IBM Plex Sans"/>
              </a:rPr>
              <a:t>What are the expected results or expected outcome?</a:t>
            </a:r>
          </a:p>
          <a:p>
            <a:pPr algn="ctr">
              <a:lnSpc>
                <a:spcPts val="2939"/>
              </a:lnSpc>
            </a:pPr>
            <a:r>
              <a:rPr lang="en-US" sz="2099">
                <a:solidFill>
                  <a:srgbClr val="000000"/>
                </a:solidFill>
                <a:latin typeface="IBM Plex Sans"/>
                <a:ea typeface="IBM Plex Sans"/>
                <a:cs typeface="IBM Plex Sans"/>
                <a:sym typeface="IBM Plex Sans"/>
              </a:rPr>
              <a:t>What have you already validated or obtained?</a:t>
            </a:r>
          </a:p>
          <a:p>
            <a:pPr algn="ctr">
              <a:lnSpc>
                <a:spcPts val="2939"/>
              </a:lnSpc>
            </a:pPr>
            <a:r>
              <a:rPr lang="en-US" sz="2099">
                <a:solidFill>
                  <a:srgbClr val="000000"/>
                </a:solidFill>
                <a:latin typeface="IBM Plex Sans"/>
                <a:ea typeface="IBM Plex Sans"/>
                <a:cs typeface="IBM Plex Sans"/>
                <a:sym typeface="IBM Plex Sans"/>
              </a:rPr>
              <a:t>Include the findings, results, observations, experiments, simulations, research, or other validation carried out through</a:t>
            </a:r>
          </a:p>
          <a:p>
            <a:pPr algn="ctr">
              <a:lnSpc>
                <a:spcPts val="2939"/>
              </a:lnSpc>
            </a:pPr>
            <a:r>
              <a:rPr lang="en-US" sz="2099">
                <a:solidFill>
                  <a:srgbClr val="000000"/>
                </a:solidFill>
                <a:latin typeface="IBM Plex Sans"/>
                <a:ea typeface="IBM Plex Sans"/>
                <a:cs typeface="IBM Plex Sans"/>
                <a:sym typeface="IBM Plex Sans"/>
              </a:rPr>
              <a:t> the prototype or development work.</a:t>
            </a:r>
          </a:p>
          <a:p>
            <a:pPr algn="ctr">
              <a:lnSpc>
                <a:spcPts val="2939"/>
              </a:lnSpc>
              <a:spcBef>
                <a:spcPct val="0"/>
              </a:spcBef>
            </a:pPr>
            <a:endParaRPr lang="en-US" sz="2099">
              <a:solidFill>
                <a:srgbClr val="000000"/>
              </a:solidFill>
              <a:latin typeface="IBM Plex Sans"/>
              <a:ea typeface="IBM Plex Sans"/>
              <a:cs typeface="IBM Plex Sans"/>
              <a:sym typeface="IBM Plex Sans"/>
            </a:endParaRPr>
          </a:p>
        </p:txBody>
      </p:sp>
      <p:sp>
        <p:nvSpPr>
          <p:cNvPr id="26" name="Freeform 26"/>
          <p:cNvSpPr/>
          <p:nvPr/>
        </p:nvSpPr>
        <p:spPr>
          <a:xfrm>
            <a:off x="264376" y="407706"/>
            <a:ext cx="3092172" cy="1030724"/>
          </a:xfrm>
          <a:custGeom>
            <a:avLst/>
            <a:gdLst/>
            <a:ahLst/>
            <a:cxnLst/>
            <a:rect l="l" t="t" r="r" b="b"/>
            <a:pathLst>
              <a:path w="3092172" h="1030724">
                <a:moveTo>
                  <a:pt x="0" y="0"/>
                </a:moveTo>
                <a:lnTo>
                  <a:pt x="3092172" y="0"/>
                </a:lnTo>
                <a:lnTo>
                  <a:pt x="3092172" y="1030724"/>
                </a:lnTo>
                <a:lnTo>
                  <a:pt x="0" y="1030724"/>
                </a:lnTo>
                <a:lnTo>
                  <a:pt x="0" y="0"/>
                </a:lnTo>
                <a:close/>
              </a:path>
            </a:pathLst>
          </a:custGeom>
          <a:blipFill>
            <a:blip r:embed="rId6"/>
            <a:stretch>
              <a:fillRect/>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0E0E0"/>
        </a:solidFill>
        <a:effectLst/>
      </p:bgPr>
    </p:bg>
    <p:spTree>
      <p:nvGrpSpPr>
        <p:cNvPr id="1" name=""/>
        <p:cNvGrpSpPr/>
        <p:nvPr/>
      </p:nvGrpSpPr>
      <p:grpSpPr>
        <a:xfrm>
          <a:off x="0" y="0"/>
          <a:ext cx="0" cy="0"/>
          <a:chOff x="0" y="0"/>
          <a:chExt cx="0" cy="0"/>
        </a:xfrm>
      </p:grpSpPr>
      <p:grpSp>
        <p:nvGrpSpPr>
          <p:cNvPr id="2" name="Group 2"/>
          <p:cNvGrpSpPr/>
          <p:nvPr/>
        </p:nvGrpSpPr>
        <p:grpSpPr>
          <a:xfrm>
            <a:off x="-1597105" y="2516808"/>
            <a:ext cx="2625805" cy="830953"/>
            <a:chOff x="0" y="0"/>
            <a:chExt cx="5816600" cy="1840700"/>
          </a:xfrm>
        </p:grpSpPr>
        <p:sp>
          <p:nvSpPr>
            <p:cNvPr id="3" name="Freeform 3"/>
            <p:cNvSpPr/>
            <p:nvPr/>
          </p:nvSpPr>
          <p:spPr>
            <a:xfrm>
              <a:off x="0" y="0"/>
              <a:ext cx="5816600" cy="1840738"/>
            </a:xfrm>
            <a:custGeom>
              <a:avLst/>
              <a:gdLst/>
              <a:ahLst/>
              <a:cxnLst/>
              <a:rect l="l" t="t" r="r" b="b"/>
              <a:pathLst>
                <a:path w="5816600" h="1840738">
                  <a:moveTo>
                    <a:pt x="0" y="0"/>
                  </a:moveTo>
                  <a:lnTo>
                    <a:pt x="5816600" y="0"/>
                  </a:lnTo>
                  <a:lnTo>
                    <a:pt x="5816600" y="1840738"/>
                  </a:lnTo>
                  <a:lnTo>
                    <a:pt x="0" y="1840738"/>
                  </a:lnTo>
                  <a:lnTo>
                    <a:pt x="0" y="0"/>
                  </a:lnTo>
                  <a:close/>
                </a:path>
              </a:pathLst>
            </a:custGeom>
            <a:blipFill>
              <a:blip r:embed="rId2"/>
              <a:stretch>
                <a:fillRect b="2"/>
              </a:stretch>
            </a:blipFill>
          </p:spPr>
        </p:sp>
      </p:grpSp>
      <p:grpSp>
        <p:nvGrpSpPr>
          <p:cNvPr id="4" name="Group 4"/>
          <p:cNvGrpSpPr/>
          <p:nvPr/>
        </p:nvGrpSpPr>
        <p:grpSpPr>
          <a:xfrm>
            <a:off x="2928206" y="9780631"/>
            <a:ext cx="2625805" cy="830953"/>
            <a:chOff x="0" y="0"/>
            <a:chExt cx="5816600" cy="1840700"/>
          </a:xfrm>
        </p:grpSpPr>
        <p:sp>
          <p:nvSpPr>
            <p:cNvPr id="5" name="Freeform 5"/>
            <p:cNvSpPr/>
            <p:nvPr/>
          </p:nvSpPr>
          <p:spPr>
            <a:xfrm>
              <a:off x="0" y="0"/>
              <a:ext cx="5816600" cy="1840738"/>
            </a:xfrm>
            <a:custGeom>
              <a:avLst/>
              <a:gdLst/>
              <a:ahLst/>
              <a:cxnLst/>
              <a:rect l="l" t="t" r="r" b="b"/>
              <a:pathLst>
                <a:path w="5816600" h="1840738">
                  <a:moveTo>
                    <a:pt x="0" y="0"/>
                  </a:moveTo>
                  <a:lnTo>
                    <a:pt x="5816600" y="0"/>
                  </a:lnTo>
                  <a:lnTo>
                    <a:pt x="5816600" y="1840738"/>
                  </a:lnTo>
                  <a:lnTo>
                    <a:pt x="0" y="1840738"/>
                  </a:lnTo>
                  <a:lnTo>
                    <a:pt x="0" y="0"/>
                  </a:lnTo>
                  <a:close/>
                </a:path>
              </a:pathLst>
            </a:custGeom>
            <a:blipFill>
              <a:blip r:embed="rId2"/>
              <a:stretch>
                <a:fillRect b="2"/>
              </a:stretch>
            </a:blipFill>
          </p:spPr>
        </p:sp>
      </p:grpSp>
      <p:grpSp>
        <p:nvGrpSpPr>
          <p:cNvPr id="6" name="Group 6"/>
          <p:cNvGrpSpPr/>
          <p:nvPr/>
        </p:nvGrpSpPr>
        <p:grpSpPr>
          <a:xfrm>
            <a:off x="13367623" y="9656173"/>
            <a:ext cx="2625805" cy="830953"/>
            <a:chOff x="0" y="0"/>
            <a:chExt cx="5816600" cy="1840700"/>
          </a:xfrm>
        </p:grpSpPr>
        <p:sp>
          <p:nvSpPr>
            <p:cNvPr id="7" name="Freeform 7"/>
            <p:cNvSpPr/>
            <p:nvPr/>
          </p:nvSpPr>
          <p:spPr>
            <a:xfrm>
              <a:off x="0" y="0"/>
              <a:ext cx="5816600" cy="1840738"/>
            </a:xfrm>
            <a:custGeom>
              <a:avLst/>
              <a:gdLst/>
              <a:ahLst/>
              <a:cxnLst/>
              <a:rect l="l" t="t" r="r" b="b"/>
              <a:pathLst>
                <a:path w="5816600" h="1840738">
                  <a:moveTo>
                    <a:pt x="0" y="0"/>
                  </a:moveTo>
                  <a:lnTo>
                    <a:pt x="5816600" y="0"/>
                  </a:lnTo>
                  <a:lnTo>
                    <a:pt x="5816600" y="1840738"/>
                  </a:lnTo>
                  <a:lnTo>
                    <a:pt x="0" y="1840738"/>
                  </a:lnTo>
                  <a:lnTo>
                    <a:pt x="0" y="0"/>
                  </a:lnTo>
                  <a:close/>
                </a:path>
              </a:pathLst>
            </a:custGeom>
            <a:blipFill>
              <a:blip r:embed="rId2"/>
              <a:stretch>
                <a:fillRect b="2"/>
              </a:stretch>
            </a:blipFill>
          </p:spPr>
        </p:sp>
      </p:grpSp>
      <p:grpSp>
        <p:nvGrpSpPr>
          <p:cNvPr id="8" name="Group 8"/>
          <p:cNvGrpSpPr/>
          <p:nvPr/>
        </p:nvGrpSpPr>
        <p:grpSpPr>
          <a:xfrm>
            <a:off x="7990242" y="9984655"/>
            <a:ext cx="173987" cy="173987"/>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7CB5"/>
            </a:solidFill>
          </p:spPr>
        </p:sp>
        <p:sp>
          <p:nvSpPr>
            <p:cNvPr id="10" name="TextBox 10"/>
            <p:cNvSpPr txBox="1"/>
            <p:nvPr/>
          </p:nvSpPr>
          <p:spPr>
            <a:xfrm>
              <a:off x="76200" y="47625"/>
              <a:ext cx="660400" cy="688975"/>
            </a:xfrm>
            <a:prstGeom prst="rect">
              <a:avLst/>
            </a:prstGeom>
          </p:spPr>
          <p:txBody>
            <a:bodyPr lIns="50800" tIns="50800" rIns="50800" bIns="50800" rtlCol="0" anchor="ctr"/>
            <a:lstStyle/>
            <a:p>
              <a:pPr algn="ctr">
                <a:lnSpc>
                  <a:spcPts val="2239"/>
                </a:lnSpc>
              </a:pPr>
              <a:endParaRPr/>
            </a:p>
          </p:txBody>
        </p:sp>
      </p:grpSp>
      <p:grpSp>
        <p:nvGrpSpPr>
          <p:cNvPr id="11" name="Group 11"/>
          <p:cNvGrpSpPr/>
          <p:nvPr/>
        </p:nvGrpSpPr>
        <p:grpSpPr>
          <a:xfrm>
            <a:off x="10353346" y="9948585"/>
            <a:ext cx="173987" cy="173987"/>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7CB5"/>
            </a:solidFill>
          </p:spPr>
        </p:sp>
        <p:sp>
          <p:nvSpPr>
            <p:cNvPr id="13" name="TextBox 13"/>
            <p:cNvSpPr txBox="1"/>
            <p:nvPr/>
          </p:nvSpPr>
          <p:spPr>
            <a:xfrm>
              <a:off x="76200" y="47625"/>
              <a:ext cx="660400" cy="688975"/>
            </a:xfrm>
            <a:prstGeom prst="rect">
              <a:avLst/>
            </a:prstGeom>
          </p:spPr>
          <p:txBody>
            <a:bodyPr lIns="50800" tIns="50800" rIns="50800" bIns="50800" rtlCol="0" anchor="ctr"/>
            <a:lstStyle/>
            <a:p>
              <a:pPr algn="ctr">
                <a:lnSpc>
                  <a:spcPts val="2239"/>
                </a:lnSpc>
              </a:pPr>
              <a:endParaRPr/>
            </a:p>
          </p:txBody>
        </p:sp>
      </p:grpSp>
      <p:grpSp>
        <p:nvGrpSpPr>
          <p:cNvPr id="14" name="Group 14"/>
          <p:cNvGrpSpPr/>
          <p:nvPr/>
        </p:nvGrpSpPr>
        <p:grpSpPr>
          <a:xfrm>
            <a:off x="7798248" y="1922336"/>
            <a:ext cx="2642092" cy="641986"/>
            <a:chOff x="0" y="0"/>
            <a:chExt cx="695860" cy="169083"/>
          </a:xfrm>
        </p:grpSpPr>
        <p:sp>
          <p:nvSpPr>
            <p:cNvPr id="15" name="Freeform 15"/>
            <p:cNvSpPr/>
            <p:nvPr/>
          </p:nvSpPr>
          <p:spPr>
            <a:xfrm>
              <a:off x="0" y="0"/>
              <a:ext cx="695860" cy="169083"/>
            </a:xfrm>
            <a:custGeom>
              <a:avLst/>
              <a:gdLst/>
              <a:ahLst/>
              <a:cxnLst/>
              <a:rect l="l" t="t" r="r" b="b"/>
              <a:pathLst>
                <a:path w="695860" h="169083">
                  <a:moveTo>
                    <a:pt x="84541" y="0"/>
                  </a:moveTo>
                  <a:lnTo>
                    <a:pt x="611318" y="0"/>
                  </a:lnTo>
                  <a:cubicBezTo>
                    <a:pt x="633740" y="0"/>
                    <a:pt x="655243" y="8907"/>
                    <a:pt x="671098" y="24762"/>
                  </a:cubicBezTo>
                  <a:cubicBezTo>
                    <a:pt x="686953" y="40616"/>
                    <a:pt x="695860" y="62120"/>
                    <a:pt x="695860" y="84541"/>
                  </a:cubicBezTo>
                  <a:lnTo>
                    <a:pt x="695860" y="84541"/>
                  </a:lnTo>
                  <a:cubicBezTo>
                    <a:pt x="695860" y="106963"/>
                    <a:pt x="686953" y="128467"/>
                    <a:pt x="671098" y="144321"/>
                  </a:cubicBezTo>
                  <a:cubicBezTo>
                    <a:pt x="655243" y="160176"/>
                    <a:pt x="633740" y="169083"/>
                    <a:pt x="611318" y="169083"/>
                  </a:cubicBezTo>
                  <a:lnTo>
                    <a:pt x="84541" y="169083"/>
                  </a:lnTo>
                  <a:cubicBezTo>
                    <a:pt x="62120" y="169083"/>
                    <a:pt x="40616" y="160176"/>
                    <a:pt x="24762" y="144321"/>
                  </a:cubicBezTo>
                  <a:cubicBezTo>
                    <a:pt x="8907" y="128467"/>
                    <a:pt x="0" y="106963"/>
                    <a:pt x="0" y="84541"/>
                  </a:cubicBezTo>
                  <a:lnTo>
                    <a:pt x="0" y="84541"/>
                  </a:lnTo>
                  <a:cubicBezTo>
                    <a:pt x="0" y="62120"/>
                    <a:pt x="8907" y="40616"/>
                    <a:pt x="24762" y="24762"/>
                  </a:cubicBezTo>
                  <a:cubicBezTo>
                    <a:pt x="40616" y="8907"/>
                    <a:pt x="62120" y="0"/>
                    <a:pt x="84541" y="0"/>
                  </a:cubicBezTo>
                  <a:close/>
                </a:path>
              </a:pathLst>
            </a:custGeom>
            <a:solidFill>
              <a:srgbClr val="FA7CB5"/>
            </a:solidFill>
          </p:spPr>
        </p:sp>
        <p:sp>
          <p:nvSpPr>
            <p:cNvPr id="16" name="TextBox 16"/>
            <p:cNvSpPr txBox="1"/>
            <p:nvPr/>
          </p:nvSpPr>
          <p:spPr>
            <a:xfrm>
              <a:off x="0" y="-28575"/>
              <a:ext cx="695860" cy="197658"/>
            </a:xfrm>
            <a:prstGeom prst="rect">
              <a:avLst/>
            </a:prstGeom>
          </p:spPr>
          <p:txBody>
            <a:bodyPr lIns="50800" tIns="50800" rIns="50800" bIns="50800" rtlCol="0" anchor="ctr"/>
            <a:lstStyle/>
            <a:p>
              <a:pPr algn="ctr">
                <a:lnSpc>
                  <a:spcPts val="2239"/>
                </a:lnSpc>
              </a:pPr>
              <a:endParaRPr/>
            </a:p>
          </p:txBody>
        </p:sp>
      </p:grpSp>
      <p:sp>
        <p:nvSpPr>
          <p:cNvPr id="17" name="Freeform 17"/>
          <p:cNvSpPr/>
          <p:nvPr/>
        </p:nvSpPr>
        <p:spPr>
          <a:xfrm>
            <a:off x="13002366" y="-47625"/>
            <a:ext cx="5063940" cy="1941386"/>
          </a:xfrm>
          <a:custGeom>
            <a:avLst/>
            <a:gdLst/>
            <a:ahLst/>
            <a:cxnLst/>
            <a:rect l="l" t="t" r="r" b="b"/>
            <a:pathLst>
              <a:path w="5063940" h="1941386">
                <a:moveTo>
                  <a:pt x="0" y="0"/>
                </a:moveTo>
                <a:lnTo>
                  <a:pt x="5063940" y="0"/>
                </a:lnTo>
                <a:lnTo>
                  <a:pt x="5063940" y="1941386"/>
                </a:lnTo>
                <a:lnTo>
                  <a:pt x="0" y="1941386"/>
                </a:lnTo>
                <a:lnTo>
                  <a:pt x="0" y="0"/>
                </a:lnTo>
                <a:close/>
              </a:path>
            </a:pathLst>
          </a:custGeom>
          <a:blipFill>
            <a:blip r:embed="rId3"/>
            <a:stretch>
              <a:fillRect/>
            </a:stretch>
          </a:blipFill>
        </p:spPr>
      </p:sp>
      <p:sp>
        <p:nvSpPr>
          <p:cNvPr id="18" name="TextBox 18"/>
          <p:cNvSpPr txBox="1"/>
          <p:nvPr/>
        </p:nvSpPr>
        <p:spPr>
          <a:xfrm>
            <a:off x="8316142" y="9882546"/>
            <a:ext cx="1743273" cy="264135"/>
          </a:xfrm>
          <a:prstGeom prst="rect">
            <a:avLst/>
          </a:prstGeom>
        </p:spPr>
        <p:txBody>
          <a:bodyPr lIns="0" tIns="0" rIns="0" bIns="0" rtlCol="0" anchor="t">
            <a:spAutoFit/>
          </a:bodyPr>
          <a:lstStyle/>
          <a:p>
            <a:pPr algn="l">
              <a:lnSpc>
                <a:spcPts val="2239"/>
              </a:lnSpc>
            </a:pPr>
            <a:r>
              <a:rPr lang="en-US" sz="1599">
                <a:solidFill>
                  <a:srgbClr val="000000"/>
                </a:solidFill>
                <a:latin typeface="IBM Plex Sans"/>
                <a:ea typeface="IBM Plex Sans"/>
                <a:cs typeface="IBM Plex Sans"/>
                <a:sym typeface="IBM Plex Sans"/>
              </a:rPr>
              <a:t>Q-Hack India 2026</a:t>
            </a:r>
          </a:p>
        </p:txBody>
      </p:sp>
      <p:sp>
        <p:nvSpPr>
          <p:cNvPr id="19" name="Freeform 19"/>
          <p:cNvSpPr/>
          <p:nvPr/>
        </p:nvSpPr>
        <p:spPr>
          <a:xfrm>
            <a:off x="7990242" y="-236831"/>
            <a:ext cx="2134862" cy="2130592"/>
          </a:xfrm>
          <a:custGeom>
            <a:avLst/>
            <a:gdLst/>
            <a:ahLst/>
            <a:cxnLst/>
            <a:rect l="l" t="t" r="r" b="b"/>
            <a:pathLst>
              <a:path w="2134862" h="2130592">
                <a:moveTo>
                  <a:pt x="0" y="0"/>
                </a:moveTo>
                <a:lnTo>
                  <a:pt x="2134862" y="0"/>
                </a:lnTo>
                <a:lnTo>
                  <a:pt x="2134862" y="2130592"/>
                </a:lnTo>
                <a:lnTo>
                  <a:pt x="0" y="2130592"/>
                </a:lnTo>
                <a:lnTo>
                  <a:pt x="0" y="0"/>
                </a:lnTo>
                <a:close/>
              </a:path>
            </a:pathLst>
          </a:custGeom>
          <a:blipFill>
            <a:blip r:embed="rId4"/>
            <a:stretch>
              <a:fillRect/>
            </a:stretch>
          </a:blipFill>
        </p:spPr>
      </p:sp>
      <p:grpSp>
        <p:nvGrpSpPr>
          <p:cNvPr id="20" name="Group 20"/>
          <p:cNvGrpSpPr/>
          <p:nvPr/>
        </p:nvGrpSpPr>
        <p:grpSpPr>
          <a:xfrm>
            <a:off x="16200432" y="8538631"/>
            <a:ext cx="1365659" cy="1173861"/>
            <a:chOff x="0" y="0"/>
            <a:chExt cx="4028567" cy="3462782"/>
          </a:xfrm>
        </p:grpSpPr>
        <p:sp>
          <p:nvSpPr>
            <p:cNvPr id="21" name="Freeform 21"/>
            <p:cNvSpPr/>
            <p:nvPr/>
          </p:nvSpPr>
          <p:spPr>
            <a:xfrm>
              <a:off x="0" y="0"/>
              <a:ext cx="4028567" cy="3462782"/>
            </a:xfrm>
            <a:custGeom>
              <a:avLst/>
              <a:gdLst/>
              <a:ahLst/>
              <a:cxnLst/>
              <a:rect l="l" t="t" r="r" b="b"/>
              <a:pathLst>
                <a:path w="4028567" h="3462782">
                  <a:moveTo>
                    <a:pt x="0" y="0"/>
                  </a:moveTo>
                  <a:lnTo>
                    <a:pt x="4028567" y="0"/>
                  </a:lnTo>
                  <a:lnTo>
                    <a:pt x="4028567" y="3462782"/>
                  </a:lnTo>
                  <a:lnTo>
                    <a:pt x="0" y="3462782"/>
                  </a:lnTo>
                  <a:lnTo>
                    <a:pt x="0" y="0"/>
                  </a:lnTo>
                  <a:close/>
                </a:path>
              </a:pathLst>
            </a:custGeom>
            <a:blipFill>
              <a:blip r:embed="rId5"/>
              <a:stretch>
                <a:fillRect/>
              </a:stretch>
            </a:blipFill>
          </p:spPr>
        </p:sp>
      </p:grpSp>
      <p:sp>
        <p:nvSpPr>
          <p:cNvPr id="22" name="TextBox 22"/>
          <p:cNvSpPr txBox="1"/>
          <p:nvPr/>
        </p:nvSpPr>
        <p:spPr>
          <a:xfrm>
            <a:off x="8499623" y="1988059"/>
            <a:ext cx="1306116" cy="405766"/>
          </a:xfrm>
          <a:prstGeom prst="rect">
            <a:avLst/>
          </a:prstGeom>
        </p:spPr>
        <p:txBody>
          <a:bodyPr lIns="0" tIns="0" rIns="0" bIns="0" rtlCol="0" anchor="t">
            <a:spAutoFit/>
          </a:bodyPr>
          <a:lstStyle/>
          <a:p>
            <a:pPr algn="ctr">
              <a:lnSpc>
                <a:spcPts val="3359"/>
              </a:lnSpc>
              <a:spcBef>
                <a:spcPct val="0"/>
              </a:spcBef>
            </a:pPr>
            <a:r>
              <a:rPr lang="en-US" sz="2399">
                <a:solidFill>
                  <a:srgbClr val="000000"/>
                </a:solidFill>
                <a:latin typeface="IBM Plex Sans"/>
                <a:ea typeface="IBM Plex Sans"/>
                <a:cs typeface="IBM Plex Sans"/>
                <a:sym typeface="IBM Plex Sans"/>
              </a:rPr>
              <a:t>Roadmap</a:t>
            </a:r>
          </a:p>
        </p:txBody>
      </p:sp>
      <p:sp>
        <p:nvSpPr>
          <p:cNvPr id="23" name="TextBox 23"/>
          <p:cNvSpPr txBox="1"/>
          <p:nvPr/>
        </p:nvSpPr>
        <p:spPr>
          <a:xfrm>
            <a:off x="1980779" y="4839970"/>
            <a:ext cx="14326443" cy="789405"/>
          </a:xfrm>
          <a:prstGeom prst="rect">
            <a:avLst/>
          </a:prstGeom>
        </p:spPr>
        <p:txBody>
          <a:bodyPr lIns="0" tIns="0" rIns="0" bIns="0" rtlCol="0" anchor="t">
            <a:spAutoFit/>
          </a:bodyPr>
          <a:lstStyle/>
          <a:p>
            <a:pPr algn="ctr">
              <a:lnSpc>
                <a:spcPts val="3219"/>
              </a:lnSpc>
              <a:spcBef>
                <a:spcPct val="0"/>
              </a:spcBef>
            </a:pPr>
            <a:r>
              <a:rPr lang="en-US" sz="2299">
                <a:solidFill>
                  <a:srgbClr val="000000"/>
                </a:solidFill>
                <a:latin typeface="IBM Plex Sans"/>
                <a:ea typeface="IBM Plex Sans"/>
                <a:cs typeface="IBM Plex Sans"/>
                <a:sym typeface="IBM Plex Sans"/>
              </a:rPr>
              <a:t>If selected for Round 2, outline how you would take your project from prototype to a more complete solution?.</a:t>
            </a:r>
          </a:p>
          <a:p>
            <a:pPr algn="ctr">
              <a:lnSpc>
                <a:spcPts val="3219"/>
              </a:lnSpc>
              <a:spcBef>
                <a:spcPct val="0"/>
              </a:spcBef>
            </a:pPr>
            <a:r>
              <a:rPr lang="en-US" sz="2299">
                <a:solidFill>
                  <a:srgbClr val="000000"/>
                </a:solidFill>
                <a:latin typeface="IBM Plex Sans"/>
                <a:ea typeface="IBM Plex Sans"/>
                <a:cs typeface="IBM Plex Sans"/>
                <a:sym typeface="IBM Plex Sans"/>
              </a:rPr>
              <a:t>Explain the next steps, improvements, scaling plans, additional validation, and future development.</a:t>
            </a:r>
          </a:p>
        </p:txBody>
      </p:sp>
      <p:sp>
        <p:nvSpPr>
          <p:cNvPr id="24" name="Freeform 24"/>
          <p:cNvSpPr/>
          <p:nvPr/>
        </p:nvSpPr>
        <p:spPr>
          <a:xfrm>
            <a:off x="264376" y="407706"/>
            <a:ext cx="3092172" cy="1030724"/>
          </a:xfrm>
          <a:custGeom>
            <a:avLst/>
            <a:gdLst/>
            <a:ahLst/>
            <a:cxnLst/>
            <a:rect l="l" t="t" r="r" b="b"/>
            <a:pathLst>
              <a:path w="3092172" h="1030724">
                <a:moveTo>
                  <a:pt x="0" y="0"/>
                </a:moveTo>
                <a:lnTo>
                  <a:pt x="3092172" y="0"/>
                </a:lnTo>
                <a:lnTo>
                  <a:pt x="3092172" y="1030724"/>
                </a:lnTo>
                <a:lnTo>
                  <a:pt x="0" y="1030724"/>
                </a:lnTo>
                <a:lnTo>
                  <a:pt x="0" y="0"/>
                </a:lnTo>
                <a:close/>
              </a:path>
            </a:pathLst>
          </a:custGeom>
          <a:blipFill>
            <a:blip r:embed="rId6"/>
            <a:stretch>
              <a:fillRect/>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B48AF7"/>
        </a:solidFill>
        <a:effectLst/>
      </p:bgPr>
    </p:bg>
    <p:spTree>
      <p:nvGrpSpPr>
        <p:cNvPr id="1" name=""/>
        <p:cNvGrpSpPr/>
        <p:nvPr/>
      </p:nvGrpSpPr>
      <p:grpSpPr>
        <a:xfrm>
          <a:off x="0" y="0"/>
          <a:ext cx="0" cy="0"/>
          <a:chOff x="0" y="0"/>
          <a:chExt cx="0" cy="0"/>
        </a:xfrm>
      </p:grpSpPr>
      <p:grpSp>
        <p:nvGrpSpPr>
          <p:cNvPr id="2" name="Group 2"/>
          <p:cNvGrpSpPr/>
          <p:nvPr/>
        </p:nvGrpSpPr>
        <p:grpSpPr>
          <a:xfrm>
            <a:off x="-1597105" y="2516808"/>
            <a:ext cx="2625805" cy="830953"/>
            <a:chOff x="0" y="0"/>
            <a:chExt cx="5816600" cy="1840700"/>
          </a:xfrm>
        </p:grpSpPr>
        <p:sp>
          <p:nvSpPr>
            <p:cNvPr id="3" name="Freeform 3"/>
            <p:cNvSpPr/>
            <p:nvPr/>
          </p:nvSpPr>
          <p:spPr>
            <a:xfrm>
              <a:off x="0" y="0"/>
              <a:ext cx="5816600" cy="1840738"/>
            </a:xfrm>
            <a:custGeom>
              <a:avLst/>
              <a:gdLst/>
              <a:ahLst/>
              <a:cxnLst/>
              <a:rect l="l" t="t" r="r" b="b"/>
              <a:pathLst>
                <a:path w="5816600" h="1840738">
                  <a:moveTo>
                    <a:pt x="0" y="0"/>
                  </a:moveTo>
                  <a:lnTo>
                    <a:pt x="5816600" y="0"/>
                  </a:lnTo>
                  <a:lnTo>
                    <a:pt x="5816600" y="1840738"/>
                  </a:lnTo>
                  <a:lnTo>
                    <a:pt x="0" y="1840738"/>
                  </a:lnTo>
                  <a:lnTo>
                    <a:pt x="0" y="0"/>
                  </a:lnTo>
                  <a:close/>
                </a:path>
              </a:pathLst>
            </a:custGeom>
            <a:blipFill>
              <a:blip r:embed="rId2"/>
              <a:stretch>
                <a:fillRect b="2"/>
              </a:stretch>
            </a:blipFill>
          </p:spPr>
        </p:sp>
      </p:grpSp>
      <p:grpSp>
        <p:nvGrpSpPr>
          <p:cNvPr id="4" name="Group 4"/>
          <p:cNvGrpSpPr/>
          <p:nvPr/>
        </p:nvGrpSpPr>
        <p:grpSpPr>
          <a:xfrm>
            <a:off x="2928206" y="9780631"/>
            <a:ext cx="2625805" cy="830953"/>
            <a:chOff x="0" y="0"/>
            <a:chExt cx="5816600" cy="1840700"/>
          </a:xfrm>
        </p:grpSpPr>
        <p:sp>
          <p:nvSpPr>
            <p:cNvPr id="5" name="Freeform 5"/>
            <p:cNvSpPr/>
            <p:nvPr/>
          </p:nvSpPr>
          <p:spPr>
            <a:xfrm>
              <a:off x="0" y="0"/>
              <a:ext cx="5816600" cy="1840738"/>
            </a:xfrm>
            <a:custGeom>
              <a:avLst/>
              <a:gdLst/>
              <a:ahLst/>
              <a:cxnLst/>
              <a:rect l="l" t="t" r="r" b="b"/>
              <a:pathLst>
                <a:path w="5816600" h="1840738">
                  <a:moveTo>
                    <a:pt x="0" y="0"/>
                  </a:moveTo>
                  <a:lnTo>
                    <a:pt x="5816600" y="0"/>
                  </a:lnTo>
                  <a:lnTo>
                    <a:pt x="5816600" y="1840738"/>
                  </a:lnTo>
                  <a:lnTo>
                    <a:pt x="0" y="1840738"/>
                  </a:lnTo>
                  <a:lnTo>
                    <a:pt x="0" y="0"/>
                  </a:lnTo>
                  <a:close/>
                </a:path>
              </a:pathLst>
            </a:custGeom>
            <a:blipFill>
              <a:blip r:embed="rId2"/>
              <a:stretch>
                <a:fillRect b="2"/>
              </a:stretch>
            </a:blipFill>
          </p:spPr>
        </p:sp>
      </p:grpSp>
      <p:grpSp>
        <p:nvGrpSpPr>
          <p:cNvPr id="6" name="Group 6"/>
          <p:cNvGrpSpPr/>
          <p:nvPr/>
        </p:nvGrpSpPr>
        <p:grpSpPr>
          <a:xfrm>
            <a:off x="13367623" y="9656173"/>
            <a:ext cx="2625805" cy="830953"/>
            <a:chOff x="0" y="0"/>
            <a:chExt cx="5816600" cy="1840700"/>
          </a:xfrm>
        </p:grpSpPr>
        <p:sp>
          <p:nvSpPr>
            <p:cNvPr id="7" name="Freeform 7"/>
            <p:cNvSpPr/>
            <p:nvPr/>
          </p:nvSpPr>
          <p:spPr>
            <a:xfrm>
              <a:off x="0" y="0"/>
              <a:ext cx="5816600" cy="1840738"/>
            </a:xfrm>
            <a:custGeom>
              <a:avLst/>
              <a:gdLst/>
              <a:ahLst/>
              <a:cxnLst/>
              <a:rect l="l" t="t" r="r" b="b"/>
              <a:pathLst>
                <a:path w="5816600" h="1840738">
                  <a:moveTo>
                    <a:pt x="0" y="0"/>
                  </a:moveTo>
                  <a:lnTo>
                    <a:pt x="5816600" y="0"/>
                  </a:lnTo>
                  <a:lnTo>
                    <a:pt x="5816600" y="1840738"/>
                  </a:lnTo>
                  <a:lnTo>
                    <a:pt x="0" y="1840738"/>
                  </a:lnTo>
                  <a:lnTo>
                    <a:pt x="0" y="0"/>
                  </a:lnTo>
                  <a:close/>
                </a:path>
              </a:pathLst>
            </a:custGeom>
            <a:blipFill>
              <a:blip r:embed="rId2"/>
              <a:stretch>
                <a:fillRect b="2"/>
              </a:stretch>
            </a:blipFill>
          </p:spPr>
        </p:sp>
      </p:grpSp>
      <p:grpSp>
        <p:nvGrpSpPr>
          <p:cNvPr id="8" name="Group 8"/>
          <p:cNvGrpSpPr/>
          <p:nvPr/>
        </p:nvGrpSpPr>
        <p:grpSpPr>
          <a:xfrm>
            <a:off x="7990242" y="9984655"/>
            <a:ext cx="173987" cy="173987"/>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7CB5"/>
            </a:solidFill>
          </p:spPr>
        </p:sp>
        <p:sp>
          <p:nvSpPr>
            <p:cNvPr id="10" name="TextBox 10"/>
            <p:cNvSpPr txBox="1"/>
            <p:nvPr/>
          </p:nvSpPr>
          <p:spPr>
            <a:xfrm>
              <a:off x="76200" y="47625"/>
              <a:ext cx="660400" cy="688975"/>
            </a:xfrm>
            <a:prstGeom prst="rect">
              <a:avLst/>
            </a:prstGeom>
          </p:spPr>
          <p:txBody>
            <a:bodyPr lIns="50800" tIns="50800" rIns="50800" bIns="50800" rtlCol="0" anchor="ctr"/>
            <a:lstStyle/>
            <a:p>
              <a:pPr algn="ctr">
                <a:lnSpc>
                  <a:spcPts val="2239"/>
                </a:lnSpc>
              </a:pPr>
              <a:endParaRPr/>
            </a:p>
          </p:txBody>
        </p:sp>
      </p:grpSp>
      <p:grpSp>
        <p:nvGrpSpPr>
          <p:cNvPr id="11" name="Group 11"/>
          <p:cNvGrpSpPr/>
          <p:nvPr/>
        </p:nvGrpSpPr>
        <p:grpSpPr>
          <a:xfrm>
            <a:off x="10353346" y="9948585"/>
            <a:ext cx="173987" cy="173987"/>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A7CB5"/>
            </a:solidFill>
          </p:spPr>
        </p:sp>
        <p:sp>
          <p:nvSpPr>
            <p:cNvPr id="13" name="TextBox 13"/>
            <p:cNvSpPr txBox="1"/>
            <p:nvPr/>
          </p:nvSpPr>
          <p:spPr>
            <a:xfrm>
              <a:off x="76200" y="47625"/>
              <a:ext cx="660400" cy="688975"/>
            </a:xfrm>
            <a:prstGeom prst="rect">
              <a:avLst/>
            </a:prstGeom>
          </p:spPr>
          <p:txBody>
            <a:bodyPr lIns="50800" tIns="50800" rIns="50800" bIns="50800" rtlCol="0" anchor="ctr"/>
            <a:lstStyle/>
            <a:p>
              <a:pPr algn="ctr">
                <a:lnSpc>
                  <a:spcPts val="2239"/>
                </a:lnSpc>
              </a:pPr>
              <a:endParaRPr/>
            </a:p>
          </p:txBody>
        </p:sp>
      </p:grpSp>
      <p:grpSp>
        <p:nvGrpSpPr>
          <p:cNvPr id="14" name="Group 14"/>
          <p:cNvGrpSpPr/>
          <p:nvPr/>
        </p:nvGrpSpPr>
        <p:grpSpPr>
          <a:xfrm>
            <a:off x="6675310" y="1893761"/>
            <a:ext cx="4381968" cy="641986"/>
            <a:chOff x="0" y="0"/>
            <a:chExt cx="1154099" cy="169083"/>
          </a:xfrm>
        </p:grpSpPr>
        <p:sp>
          <p:nvSpPr>
            <p:cNvPr id="15" name="Freeform 15"/>
            <p:cNvSpPr/>
            <p:nvPr/>
          </p:nvSpPr>
          <p:spPr>
            <a:xfrm>
              <a:off x="0" y="0"/>
              <a:ext cx="1154099" cy="169083"/>
            </a:xfrm>
            <a:custGeom>
              <a:avLst/>
              <a:gdLst/>
              <a:ahLst/>
              <a:cxnLst/>
              <a:rect l="l" t="t" r="r" b="b"/>
              <a:pathLst>
                <a:path w="1154099" h="169083">
                  <a:moveTo>
                    <a:pt x="84541" y="0"/>
                  </a:moveTo>
                  <a:lnTo>
                    <a:pt x="1069557" y="0"/>
                  </a:lnTo>
                  <a:cubicBezTo>
                    <a:pt x="1091979" y="0"/>
                    <a:pt x="1113482" y="8907"/>
                    <a:pt x="1129337" y="24762"/>
                  </a:cubicBezTo>
                  <a:cubicBezTo>
                    <a:pt x="1145192" y="40616"/>
                    <a:pt x="1154099" y="62120"/>
                    <a:pt x="1154099" y="84541"/>
                  </a:cubicBezTo>
                  <a:lnTo>
                    <a:pt x="1154099" y="84541"/>
                  </a:lnTo>
                  <a:cubicBezTo>
                    <a:pt x="1154099" y="106963"/>
                    <a:pt x="1145192" y="128467"/>
                    <a:pt x="1129337" y="144321"/>
                  </a:cubicBezTo>
                  <a:cubicBezTo>
                    <a:pt x="1113482" y="160176"/>
                    <a:pt x="1091979" y="169083"/>
                    <a:pt x="1069557" y="169083"/>
                  </a:cubicBezTo>
                  <a:lnTo>
                    <a:pt x="84541" y="169083"/>
                  </a:lnTo>
                  <a:cubicBezTo>
                    <a:pt x="62120" y="169083"/>
                    <a:pt x="40616" y="160176"/>
                    <a:pt x="24762" y="144321"/>
                  </a:cubicBezTo>
                  <a:cubicBezTo>
                    <a:pt x="8907" y="128467"/>
                    <a:pt x="0" y="106963"/>
                    <a:pt x="0" y="84541"/>
                  </a:cubicBezTo>
                  <a:lnTo>
                    <a:pt x="0" y="84541"/>
                  </a:lnTo>
                  <a:cubicBezTo>
                    <a:pt x="0" y="62120"/>
                    <a:pt x="8907" y="40616"/>
                    <a:pt x="24762" y="24762"/>
                  </a:cubicBezTo>
                  <a:cubicBezTo>
                    <a:pt x="40616" y="8907"/>
                    <a:pt x="62120" y="0"/>
                    <a:pt x="84541" y="0"/>
                  </a:cubicBezTo>
                  <a:close/>
                </a:path>
              </a:pathLst>
            </a:custGeom>
            <a:solidFill>
              <a:srgbClr val="E0E0E0"/>
            </a:solidFill>
          </p:spPr>
        </p:sp>
        <p:sp>
          <p:nvSpPr>
            <p:cNvPr id="16" name="TextBox 16"/>
            <p:cNvSpPr txBox="1"/>
            <p:nvPr/>
          </p:nvSpPr>
          <p:spPr>
            <a:xfrm>
              <a:off x="0" y="-28575"/>
              <a:ext cx="1154099" cy="197658"/>
            </a:xfrm>
            <a:prstGeom prst="rect">
              <a:avLst/>
            </a:prstGeom>
          </p:spPr>
          <p:txBody>
            <a:bodyPr lIns="50800" tIns="50800" rIns="50800" bIns="50800" rtlCol="0" anchor="ctr"/>
            <a:lstStyle/>
            <a:p>
              <a:pPr algn="ctr">
                <a:lnSpc>
                  <a:spcPts val="2239"/>
                </a:lnSpc>
              </a:pPr>
              <a:endParaRPr/>
            </a:p>
          </p:txBody>
        </p:sp>
      </p:grpSp>
      <p:sp>
        <p:nvSpPr>
          <p:cNvPr id="17" name="Freeform 17"/>
          <p:cNvSpPr/>
          <p:nvPr/>
        </p:nvSpPr>
        <p:spPr>
          <a:xfrm>
            <a:off x="13002366" y="-47625"/>
            <a:ext cx="5063940" cy="1941386"/>
          </a:xfrm>
          <a:custGeom>
            <a:avLst/>
            <a:gdLst/>
            <a:ahLst/>
            <a:cxnLst/>
            <a:rect l="l" t="t" r="r" b="b"/>
            <a:pathLst>
              <a:path w="5063940" h="1941386">
                <a:moveTo>
                  <a:pt x="0" y="0"/>
                </a:moveTo>
                <a:lnTo>
                  <a:pt x="5063940" y="0"/>
                </a:lnTo>
                <a:lnTo>
                  <a:pt x="5063940" y="1941386"/>
                </a:lnTo>
                <a:lnTo>
                  <a:pt x="0" y="1941386"/>
                </a:lnTo>
                <a:lnTo>
                  <a:pt x="0" y="0"/>
                </a:lnTo>
                <a:close/>
              </a:path>
            </a:pathLst>
          </a:custGeom>
          <a:blipFill>
            <a:blip r:embed="rId3"/>
            <a:stretch>
              <a:fillRect/>
            </a:stretch>
          </a:blipFill>
        </p:spPr>
      </p:sp>
      <p:sp>
        <p:nvSpPr>
          <p:cNvPr id="18" name="TextBox 18"/>
          <p:cNvSpPr txBox="1"/>
          <p:nvPr/>
        </p:nvSpPr>
        <p:spPr>
          <a:xfrm>
            <a:off x="8316142" y="9882546"/>
            <a:ext cx="1743273" cy="264135"/>
          </a:xfrm>
          <a:prstGeom prst="rect">
            <a:avLst/>
          </a:prstGeom>
        </p:spPr>
        <p:txBody>
          <a:bodyPr lIns="0" tIns="0" rIns="0" bIns="0" rtlCol="0" anchor="t">
            <a:spAutoFit/>
          </a:bodyPr>
          <a:lstStyle/>
          <a:p>
            <a:pPr algn="l">
              <a:lnSpc>
                <a:spcPts val="2239"/>
              </a:lnSpc>
            </a:pPr>
            <a:r>
              <a:rPr lang="en-US" sz="1599">
                <a:solidFill>
                  <a:srgbClr val="000000"/>
                </a:solidFill>
                <a:latin typeface="IBM Plex Sans"/>
                <a:ea typeface="IBM Plex Sans"/>
                <a:cs typeface="IBM Plex Sans"/>
                <a:sym typeface="IBM Plex Sans"/>
              </a:rPr>
              <a:t>Q-Hack India 2026</a:t>
            </a:r>
          </a:p>
        </p:txBody>
      </p:sp>
      <p:sp>
        <p:nvSpPr>
          <p:cNvPr id="19" name="Freeform 19"/>
          <p:cNvSpPr/>
          <p:nvPr/>
        </p:nvSpPr>
        <p:spPr>
          <a:xfrm>
            <a:off x="7590903" y="-208256"/>
            <a:ext cx="2134862" cy="2130592"/>
          </a:xfrm>
          <a:custGeom>
            <a:avLst/>
            <a:gdLst/>
            <a:ahLst/>
            <a:cxnLst/>
            <a:rect l="l" t="t" r="r" b="b"/>
            <a:pathLst>
              <a:path w="2134862" h="2130592">
                <a:moveTo>
                  <a:pt x="0" y="0"/>
                </a:moveTo>
                <a:lnTo>
                  <a:pt x="2134862" y="0"/>
                </a:lnTo>
                <a:lnTo>
                  <a:pt x="2134862" y="2130592"/>
                </a:lnTo>
                <a:lnTo>
                  <a:pt x="0" y="2130592"/>
                </a:lnTo>
                <a:lnTo>
                  <a:pt x="0" y="0"/>
                </a:lnTo>
                <a:close/>
              </a:path>
            </a:pathLst>
          </a:custGeom>
          <a:blipFill>
            <a:blip r:embed="rId4"/>
            <a:stretch>
              <a:fillRect/>
            </a:stretch>
          </a:blipFill>
        </p:spPr>
      </p:sp>
      <p:grpSp>
        <p:nvGrpSpPr>
          <p:cNvPr id="20" name="Group 20"/>
          <p:cNvGrpSpPr/>
          <p:nvPr/>
        </p:nvGrpSpPr>
        <p:grpSpPr>
          <a:xfrm>
            <a:off x="16388711" y="8987334"/>
            <a:ext cx="1677594" cy="1065265"/>
            <a:chOff x="0" y="0"/>
            <a:chExt cx="4028567" cy="2558123"/>
          </a:xfrm>
        </p:grpSpPr>
        <p:sp>
          <p:nvSpPr>
            <p:cNvPr id="21" name="Freeform 21"/>
            <p:cNvSpPr/>
            <p:nvPr/>
          </p:nvSpPr>
          <p:spPr>
            <a:xfrm>
              <a:off x="0" y="0"/>
              <a:ext cx="4028567" cy="2558161"/>
            </a:xfrm>
            <a:custGeom>
              <a:avLst/>
              <a:gdLst/>
              <a:ahLst/>
              <a:cxnLst/>
              <a:rect l="l" t="t" r="r" b="b"/>
              <a:pathLst>
                <a:path w="4028567" h="2558161">
                  <a:moveTo>
                    <a:pt x="0" y="0"/>
                  </a:moveTo>
                  <a:lnTo>
                    <a:pt x="4028567" y="0"/>
                  </a:lnTo>
                  <a:lnTo>
                    <a:pt x="4028567" y="2558161"/>
                  </a:lnTo>
                  <a:lnTo>
                    <a:pt x="0" y="2558161"/>
                  </a:lnTo>
                  <a:lnTo>
                    <a:pt x="0" y="0"/>
                  </a:lnTo>
                  <a:close/>
                </a:path>
              </a:pathLst>
            </a:custGeom>
            <a:blipFill>
              <a:blip r:embed="rId5"/>
              <a:stretch>
                <a:fillRect b="1"/>
              </a:stretch>
            </a:blipFill>
          </p:spPr>
        </p:sp>
      </p:grpSp>
      <p:grpSp>
        <p:nvGrpSpPr>
          <p:cNvPr id="22" name="Group 22"/>
          <p:cNvGrpSpPr/>
          <p:nvPr/>
        </p:nvGrpSpPr>
        <p:grpSpPr>
          <a:xfrm>
            <a:off x="16564806" y="3523271"/>
            <a:ext cx="2625805" cy="830953"/>
            <a:chOff x="0" y="0"/>
            <a:chExt cx="5816600" cy="1840700"/>
          </a:xfrm>
        </p:grpSpPr>
        <p:sp>
          <p:nvSpPr>
            <p:cNvPr id="23" name="Freeform 23"/>
            <p:cNvSpPr/>
            <p:nvPr/>
          </p:nvSpPr>
          <p:spPr>
            <a:xfrm>
              <a:off x="0" y="0"/>
              <a:ext cx="5816600" cy="1840738"/>
            </a:xfrm>
            <a:custGeom>
              <a:avLst/>
              <a:gdLst/>
              <a:ahLst/>
              <a:cxnLst/>
              <a:rect l="l" t="t" r="r" b="b"/>
              <a:pathLst>
                <a:path w="5816600" h="1840738">
                  <a:moveTo>
                    <a:pt x="0" y="0"/>
                  </a:moveTo>
                  <a:lnTo>
                    <a:pt x="5816600" y="0"/>
                  </a:lnTo>
                  <a:lnTo>
                    <a:pt x="5816600" y="1840738"/>
                  </a:lnTo>
                  <a:lnTo>
                    <a:pt x="0" y="1840738"/>
                  </a:lnTo>
                  <a:lnTo>
                    <a:pt x="0" y="0"/>
                  </a:lnTo>
                  <a:close/>
                </a:path>
              </a:pathLst>
            </a:custGeom>
            <a:blipFill>
              <a:blip r:embed="rId2"/>
              <a:stretch>
                <a:fillRect b="2"/>
              </a:stretch>
            </a:blipFill>
          </p:spPr>
        </p:sp>
      </p:grpSp>
      <p:sp>
        <p:nvSpPr>
          <p:cNvPr id="24" name="TextBox 24"/>
          <p:cNvSpPr txBox="1"/>
          <p:nvPr/>
        </p:nvSpPr>
        <p:spPr>
          <a:xfrm>
            <a:off x="7391149" y="2009332"/>
            <a:ext cx="3020616" cy="372745"/>
          </a:xfrm>
          <a:prstGeom prst="rect">
            <a:avLst/>
          </a:prstGeom>
        </p:spPr>
        <p:txBody>
          <a:bodyPr lIns="0" tIns="0" rIns="0" bIns="0" rtlCol="0" anchor="t">
            <a:spAutoFit/>
          </a:bodyPr>
          <a:lstStyle/>
          <a:p>
            <a:pPr algn="ctr">
              <a:lnSpc>
                <a:spcPts val="3079"/>
              </a:lnSpc>
              <a:spcBef>
                <a:spcPct val="0"/>
              </a:spcBef>
            </a:pPr>
            <a:r>
              <a:rPr lang="en-US" sz="2199">
                <a:solidFill>
                  <a:srgbClr val="000000"/>
                </a:solidFill>
                <a:latin typeface="IBM Plex Sans"/>
                <a:ea typeface="IBM Plex Sans"/>
                <a:cs typeface="IBM Plex Sans"/>
                <a:sym typeface="IBM Plex Sans"/>
              </a:rPr>
              <a:t>References and Sources</a:t>
            </a:r>
          </a:p>
        </p:txBody>
      </p:sp>
      <p:sp>
        <p:nvSpPr>
          <p:cNvPr id="25" name="TextBox 25"/>
          <p:cNvSpPr txBox="1"/>
          <p:nvPr/>
        </p:nvSpPr>
        <p:spPr>
          <a:xfrm>
            <a:off x="1566803" y="4911911"/>
            <a:ext cx="15154395" cy="1480185"/>
          </a:xfrm>
          <a:prstGeom prst="rect">
            <a:avLst/>
          </a:prstGeom>
        </p:spPr>
        <p:txBody>
          <a:bodyPr lIns="0" tIns="0" rIns="0" bIns="0" rtlCol="0" anchor="t">
            <a:spAutoFit/>
          </a:bodyPr>
          <a:lstStyle/>
          <a:p>
            <a:pPr algn="ctr">
              <a:lnSpc>
                <a:spcPts val="2939"/>
              </a:lnSpc>
              <a:spcBef>
                <a:spcPct val="0"/>
              </a:spcBef>
            </a:pPr>
            <a:r>
              <a:rPr lang="en-US" sz="2099">
                <a:solidFill>
                  <a:srgbClr val="000000"/>
                </a:solidFill>
                <a:latin typeface="IBM Plex Sans"/>
                <a:ea typeface="IBM Plex Sans"/>
                <a:cs typeface="IBM Plex Sans"/>
                <a:sym typeface="IBM Plex Sans"/>
              </a:rPr>
              <a:t>Mention the research papers, repositories, documentation, datasets, or other sources referred to while developing the solution.</a:t>
            </a:r>
          </a:p>
          <a:p>
            <a:pPr algn="ctr">
              <a:lnSpc>
                <a:spcPts val="2939"/>
              </a:lnSpc>
              <a:spcBef>
                <a:spcPct val="0"/>
              </a:spcBef>
            </a:pPr>
            <a:r>
              <a:rPr lang="en-US" sz="2099">
                <a:solidFill>
                  <a:srgbClr val="000000"/>
                </a:solidFill>
                <a:latin typeface="IBM Plex Sans"/>
                <a:ea typeface="IBM Plex Sans"/>
                <a:cs typeface="IBM Plex Sans"/>
                <a:sym typeface="IBM Plex Sans"/>
              </a:rPr>
              <a:t>Relevant links should be accessible to the reviewers.</a:t>
            </a:r>
          </a:p>
          <a:p>
            <a:pPr algn="ctr">
              <a:lnSpc>
                <a:spcPts val="2939"/>
              </a:lnSpc>
              <a:spcBef>
                <a:spcPct val="0"/>
              </a:spcBef>
            </a:pPr>
            <a:r>
              <a:rPr lang="en-US" sz="2099">
                <a:solidFill>
                  <a:srgbClr val="000000"/>
                </a:solidFill>
                <a:latin typeface="IBM Plex Sans"/>
                <a:ea typeface="IBM Plex Sans"/>
                <a:cs typeface="IBM Plex Sans"/>
                <a:sym typeface="IBM Plex Sans"/>
              </a:rPr>
              <a:t>Clearly acknowledge any source of inspiration.</a:t>
            </a:r>
          </a:p>
          <a:p>
            <a:pPr algn="ctr">
              <a:lnSpc>
                <a:spcPts val="2939"/>
              </a:lnSpc>
              <a:spcBef>
                <a:spcPct val="0"/>
              </a:spcBef>
            </a:pPr>
            <a:r>
              <a:rPr lang="en-US" sz="2099">
                <a:solidFill>
                  <a:srgbClr val="000000"/>
                </a:solidFill>
                <a:latin typeface="IBM Plex Sans"/>
                <a:ea typeface="IBM Plex Sans"/>
                <a:cs typeface="IBM Plex Sans"/>
                <a:sym typeface="IBM Plex Sans"/>
              </a:rPr>
              <a:t>The final implementation should be the team’s own work and should not be a direct copy or fork of another repository.</a:t>
            </a:r>
          </a:p>
        </p:txBody>
      </p:sp>
      <p:sp>
        <p:nvSpPr>
          <p:cNvPr id="26" name="Freeform 26"/>
          <p:cNvSpPr/>
          <p:nvPr/>
        </p:nvSpPr>
        <p:spPr>
          <a:xfrm>
            <a:off x="264376" y="407706"/>
            <a:ext cx="3092172" cy="1030724"/>
          </a:xfrm>
          <a:custGeom>
            <a:avLst/>
            <a:gdLst/>
            <a:ahLst/>
            <a:cxnLst/>
            <a:rect l="l" t="t" r="r" b="b"/>
            <a:pathLst>
              <a:path w="3092172" h="1030724">
                <a:moveTo>
                  <a:pt x="0" y="0"/>
                </a:moveTo>
                <a:lnTo>
                  <a:pt x="3092172" y="0"/>
                </a:lnTo>
                <a:lnTo>
                  <a:pt x="3092172" y="1030724"/>
                </a:lnTo>
                <a:lnTo>
                  <a:pt x="0" y="1030724"/>
                </a:lnTo>
                <a:lnTo>
                  <a:pt x="0" y="0"/>
                </a:lnTo>
                <a:close/>
              </a:path>
            </a:pathLst>
          </a:custGeom>
          <a:blipFill>
            <a:blip r:embed="rId6"/>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TotalTime>
  <Words>1058</Words>
  <Application>Microsoft Office PowerPoint</Application>
  <PresentationFormat>Custom</PresentationFormat>
  <Paragraphs>75</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Calibri</vt:lpstr>
      <vt:lpstr>Arial</vt:lpstr>
      <vt:lpstr>IBM Plex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Q-Hack_India26</dc:title>
  <dc:creator>Kirthan</dc:creator>
  <cp:lastModifiedBy>Keerthan</cp:lastModifiedBy>
  <cp:revision>12</cp:revision>
  <dcterms:created xsi:type="dcterms:W3CDTF">2006-08-16T00:00:00Z</dcterms:created>
  <dcterms:modified xsi:type="dcterms:W3CDTF">2026-10-09T15:58:57Z</dcterms:modified>
  <dc:identifier>DAHWTXXNjRc</dc:identifier>
</cp:coreProperties>
</file>